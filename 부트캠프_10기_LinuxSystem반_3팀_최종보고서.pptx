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73" r:id="rId6"/>
    <p:sldId id="268" r:id="rId7"/>
    <p:sldId id="276" r:id="rId8"/>
    <p:sldId id="277" r:id="rId9"/>
    <p:sldId id="261" r:id="rId10"/>
    <p:sldId id="278" r:id="rId11"/>
    <p:sldId id="269" r:id="rId12"/>
    <p:sldId id="271" r:id="rId13"/>
    <p:sldId id="266" r:id="rId14"/>
    <p:sldId id="274" r:id="rId15"/>
    <p:sldId id="267" r:id="rId16"/>
    <p:sldId id="270" r:id="rId17"/>
    <p:sldId id="279" r:id="rId18"/>
    <p:sldId id="262" r:id="rId19"/>
    <p:sldId id="263" r:id="rId20"/>
    <p:sldId id="264" r:id="rId21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0728-BE23-4433-8691-D3940CB2A2BA}" v="94" dt="2025-07-09T07:54:23.192"/>
    <p1510:client id="{136666A8-EC61-4E58-855E-77C073D38470}" v="73" dt="2025-07-09T07:49:02.331"/>
    <p1510:client id="{24E14115-F802-47D0-9D68-F0D62D03ACC3}" v="3" dt="2025-07-09T07:36:00.356"/>
    <p1510:client id="{2ADEFCE4-A8B9-41AE-B135-E616D4CCF60E}" v="34" dt="2025-07-09T07:23:44.543"/>
    <p1510:client id="{417421EE-D1CC-BB18-0F4F-7DD160F99CFE}" v="9" dt="2025-07-09T23:48:10.255"/>
    <p1510:client id="{44FC4574-674A-4CAD-837D-78CC485C4F74}" v="1258" dt="2025-07-09T07:19:39.696"/>
    <p1510:client id="{761433C6-1DCC-451D-6CBD-0F58B38E29AA}" v="70" dt="2025-07-09T07:24:24.061"/>
    <p1510:client id="{9B14A935-25EE-4720-A15C-4B8CBF244A42}" v="23" dt="2025-07-09T23:50:06.824"/>
    <p1510:client id="{C1DF4575-6FBA-4DC5-B036-1FD9021F259B}" v="108" dt="2025-07-09T05:02:17.797"/>
    <p1510:client id="{C9F32056-8FAA-CB6C-3CB1-396E99773A49}" v="146" dt="2025-07-09T07:26:42.368"/>
    <p1510:client id="{D1958E39-8761-8FBA-2854-91249EF67036}" v="1034" dt="2025-07-09T07:33:44.901"/>
    <p1510:client id="{DA1BFFA9-6251-4CAB-A8B1-10F0E1378060}" v="369" dt="2025-07-09T07:42:58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10"/>
        <p:guide pos="5529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2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처음 기획한 개발 목표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실제 개발 결과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가급적 결과 내용을 상세히 기술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470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59C3-CA58-183E-D6CE-9611DF45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0F36D0-BA5A-8DD7-25A1-17EEF80A2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573276-5B5E-4307-1132-4545BBD48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815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DF95-1B29-1F20-0AD3-958E6819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E6AD16-D60C-380F-45D2-889B0D279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7F8CFA-CAD7-A92B-831B-B7B9B7C64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336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4357-509B-233C-5F6B-E0FCEF3E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CD8622-9599-9AA3-56C3-20F4808C1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3809F8-42F6-1B78-3209-98A4C99C5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863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25B78-3E4A-8075-A7E2-ED10C19E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C1ED44-C565-E2C6-6393-A17C4D7D0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5A985B-379F-BF10-149B-9B57FAEE9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423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064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B28FF-EDCF-5391-40DB-F9EC8A45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04BACE-3F27-A490-BF78-3760CE93B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085964-48A7-5D9A-835C-182D8B1F8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605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BE767-C45D-E1FD-1A38-C75C9C4B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0DFB13-A61A-2174-A712-3B64C898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2BE7F-E12C-BC11-F72E-7D39C6F03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521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5BF71-6FBA-D641-1978-3CFC62E96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7CAD0A-2ED9-EB22-0B09-CB3472FF9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2243E8-29C9-4FDC-AF0A-58B2F7D57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796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014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27E8-6147-6E95-6DC4-D98C6318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942261-8EE6-0458-A59E-BB8BC5432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9111E3-7804-10DA-E9EB-27785FC7C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293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091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BFF1F-5261-3158-F54D-27E51EAD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3E360-E34C-57BA-2D18-760768FAA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BA435-9B69-E856-AAFF-E340818DD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001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F43D-72E0-BDFA-EA46-3FB3225D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E7ED7C-3C7B-3C4F-040E-C316D127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E86F08-439A-1DE6-99CA-CBCACE1B2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페이지 수 무관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978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결과물에 대한 성능측정 또는 목표달성 여부 등 평가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성능이 낮을 경우 원인 분석 및 개선책 검토 기록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성능이 만족했을 경우 향후 활용 가능한 기대효과 기록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가급적 </a:t>
            </a:r>
            <a:r>
              <a:rPr lang="en-US" altLang="ko-KR" sz="1200" b="1">
                <a:solidFill>
                  <a:schemeClr val="tx1"/>
                </a:solidFill>
              </a:rPr>
              <a:t>1 </a:t>
            </a:r>
            <a:r>
              <a:rPr lang="ko-KR" altLang="en-US" sz="1200" b="1">
                <a:solidFill>
                  <a:schemeClr val="tx1"/>
                </a:solidFill>
              </a:rPr>
              <a:t>페이지로 정리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3701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개발 결과물의 추후 개선점</a:t>
            </a:r>
            <a:r>
              <a:rPr lang="en-US" altLang="ko-KR" sz="1200" b="1">
                <a:solidFill>
                  <a:schemeClr val="tx1"/>
                </a:solidFill>
              </a:rPr>
              <a:t>, </a:t>
            </a:r>
            <a:r>
              <a:rPr lang="ko-KR" altLang="en-US" sz="1200" b="1">
                <a:solidFill>
                  <a:schemeClr val="tx1"/>
                </a:solidFill>
              </a:rPr>
              <a:t>후속 개발 주제 등에 대한 내용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가급적 </a:t>
            </a:r>
            <a:r>
              <a:rPr lang="en-US" altLang="ko-KR" sz="1200" b="1">
                <a:solidFill>
                  <a:schemeClr val="tx1"/>
                </a:solidFill>
              </a:rPr>
              <a:t>1</a:t>
            </a:r>
            <a:r>
              <a:rPr lang="ko-KR" altLang="en-US" sz="1200" b="1">
                <a:solidFill>
                  <a:schemeClr val="tx1"/>
                </a:solidFill>
              </a:rPr>
              <a:t>페이지로 요약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469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프로젝트 수행에 따른 </a:t>
            </a:r>
            <a:r>
              <a:rPr lang="ko-KR" altLang="en-US" sz="1200" b="1" err="1">
                <a:solidFill>
                  <a:schemeClr val="tx1"/>
                </a:solidFill>
              </a:rPr>
              <a:t>느낀점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 err="1">
                <a:solidFill>
                  <a:schemeClr val="tx1"/>
                </a:solidFill>
              </a:rPr>
              <a:t>개발중</a:t>
            </a:r>
            <a:r>
              <a:rPr lang="ko-KR" altLang="en-US" sz="1200" b="1">
                <a:solidFill>
                  <a:schemeClr val="tx1"/>
                </a:solidFill>
              </a:rPr>
              <a:t> 어려웠던 점 그리고 이를 극복한 사연 등</a:t>
            </a:r>
            <a:endParaRPr lang="en-US" altLang="ko-KR" sz="1200" b="1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1200" b="1">
                <a:solidFill>
                  <a:schemeClr val="tx1"/>
                </a:solidFill>
              </a:rPr>
              <a:t>교육과 프로젝트를 마무리한 소회 등</a:t>
            </a:r>
            <a:r>
              <a:rPr lang="en-US" altLang="ko-KR" sz="1200" b="1">
                <a:solidFill>
                  <a:schemeClr val="tx1"/>
                </a:solidFill>
              </a:rPr>
              <a:t>… 1</a:t>
            </a:r>
            <a:r>
              <a:rPr lang="ko-KR" altLang="en-US" sz="1200" b="1">
                <a:solidFill>
                  <a:schemeClr val="tx1"/>
                </a:solidFill>
              </a:rPr>
              <a:t>페이지로 정리 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216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D149E8-B356-AF9D-7D8B-94C7F96729C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106537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</a:t>
            </a:r>
            <a:r>
              <a:rPr lang="ko-KR" altLang="en-US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부트캠프 </a:t>
            </a:r>
            <a:r>
              <a:rPr lang="en-US" altLang="ko-KR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10</a:t>
            </a:r>
            <a:r>
              <a:rPr lang="ko-KR" altLang="en-US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피치 </a:t>
            </a:r>
            <a:r>
              <a:rPr lang="ko-KR" altLang="en-US" sz="5400" b="1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피치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40474" y="7827365"/>
            <a:ext cx="5961067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LG스마트체2.0 Regular"/>
                <a:ea typeface="LG스마트체2.0 Regular"/>
              </a:rPr>
              <a:t>Linux System </a:t>
            </a:r>
            <a:r>
              <a:rPr lang="ko-KR" altLang="en-US" sz="2800" b="1" dirty="0">
                <a:solidFill>
                  <a:schemeClr val="bg1"/>
                </a:solidFill>
                <a:latin typeface="LG스마트체2.0 Regular"/>
                <a:ea typeface="LG스마트체2.0 Regular"/>
              </a:rPr>
              <a:t>반 </a:t>
            </a:r>
            <a:r>
              <a:rPr lang="en-US" altLang="ko-KR" sz="2800" b="1" dirty="0">
                <a:solidFill>
                  <a:schemeClr val="bg1"/>
                </a:solidFill>
                <a:latin typeface="LG스마트체2.0 Regular"/>
                <a:ea typeface="LG스마트체2.0 Regular"/>
              </a:rPr>
              <a:t>3</a:t>
            </a:r>
            <a:r>
              <a:rPr lang="ko-KR" altLang="en-US" sz="2800" b="1" dirty="0">
                <a:solidFill>
                  <a:schemeClr val="bg1"/>
                </a:solidFill>
                <a:latin typeface="LG스마트체2.0 Regular"/>
                <a:ea typeface="LG스마트체2.0 Regular"/>
              </a:rPr>
              <a:t>팀 </a:t>
            </a:r>
            <a:r>
              <a:rPr lang="ko-KR" altLang="en-US" sz="2800" b="1" dirty="0" err="1">
                <a:solidFill>
                  <a:schemeClr val="bg1"/>
                </a:solidFill>
                <a:latin typeface="LG스마트체2.0 Regular"/>
                <a:ea typeface="LG스마트체2.0 Regular"/>
              </a:rPr>
              <a:t>Bootcoin</a:t>
            </a:r>
            <a:endParaRPr lang="en-US" altLang="ko-KR" sz="2800" b="1" dirty="0" err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en-US" altLang="ko-KR" sz="28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2800" b="1" dirty="0">
                <a:solidFill>
                  <a:schemeClr val="bg1"/>
                </a:solidFill>
                <a:latin typeface="LG스마트체2.0 Regular"/>
                <a:ea typeface="LG스마트체2.0 Regular"/>
              </a:rPr>
              <a:t>강상원 김예빈 박건희 조민석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결과보고서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1" y="649796"/>
            <a:ext cx="4510135" cy="21945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654" y="1373029"/>
            <a:ext cx="5253657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97049" y="2878040"/>
            <a:ext cx="1116012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  <a:endParaRPr lang="en-US" altLang="ko-KR" sz="4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  <a:endParaRPr lang="en-US" altLang="ko-KR" sz="4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  <a:endParaRPr lang="en-US" altLang="ko-KR" sz="4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  <a:endParaRPr lang="en-US" altLang="ko-KR" sz="4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  <a:endParaRPr lang="en-US" altLang="ko-KR" sz="4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3F9488-5A14-4330-A1A4-B2D5D757A375}"/>
              </a:ext>
            </a:extLst>
          </p:cNvPr>
          <p:cNvSpPr/>
          <p:nvPr/>
        </p:nvSpPr>
        <p:spPr>
          <a:xfrm>
            <a:off x="1026458" y="1821662"/>
            <a:ext cx="8153401" cy="76502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b="1">
                <a:solidFill>
                  <a:srgbClr val="FF6565"/>
                </a:solidFill>
                <a:latin typeface="LG스마트체2.0 Regular" panose="020B0600000101010101" pitchFamily="50" charset="-127"/>
                <a:ea typeface="LG스마트체2.0 Regular"/>
              </a:rPr>
              <a:t>📌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 주제</a:t>
            </a:r>
          </a:p>
          <a:p>
            <a:pPr>
              <a:lnSpc>
                <a:spcPct val="150000"/>
              </a:lnSpc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사용자의 음정을 인식해 캐릭터를 조작하는 음악 기반 게임 시스템 개발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>
              <a:lnSpc>
                <a:spcPct val="150000"/>
              </a:lnSpc>
            </a:pPr>
            <a:endParaRPr lang="ko-KR" altLang="en-US" sz="3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000" b="1">
                <a:solidFill>
                  <a:srgbClr val="00B0F0"/>
                </a:solidFill>
                <a:latin typeface="LG스마트체2.0 Regular" panose="020B0600000101010101" pitchFamily="50" charset="-127"/>
                <a:ea typeface="LG스마트체2.0 Regular"/>
              </a:rPr>
              <a:t>🎯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 목표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마이크 입력으로 음정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박자를 실시간 분석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싱글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멀티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노래 연습 모드 구현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임베디드 환경에서 독립 실행 가능한 시스템 구축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3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000" b="1">
                <a:solidFill>
                  <a:srgbClr val="92D050"/>
                </a:solidFill>
                <a:latin typeface="LG스마트체2.0 Regular" panose="020B0600000101010101" pitchFamily="50" charset="-127"/>
                <a:ea typeface="LG스마트체2.0 Regular"/>
              </a:rPr>
              <a:t>✅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 결과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ALSA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기반 실시간 오디오 처리 및 피치 분석 성공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Qt GUI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기반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3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가지 게임 모드 완성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UDP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멀티플레이어 통신 동기화 구현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커널 포팅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+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Buildroot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기반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Rootfs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제작 및 자동 실행 환경 구성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18DD15-B232-FC9F-B75E-74BDDB2F4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868" y="3381153"/>
            <a:ext cx="9274949" cy="484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4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6CBCD2-4920-47F8-9138-61D4409FCD50}"/>
              </a:ext>
            </a:extLst>
          </p:cNvPr>
          <p:cNvSpPr/>
          <p:nvPr/>
        </p:nvSpPr>
        <p:spPr>
          <a:xfrm>
            <a:off x="983025" y="1931486"/>
            <a:ext cx="9487751" cy="673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b="1">
                <a:solidFill>
                  <a:srgbClr val="FF6565"/>
                </a:solidFill>
                <a:latin typeface="LG스마트체2.0 Regular" panose="020B0600000101010101" pitchFamily="50" charset="-127"/>
                <a:ea typeface="LG스마트체2.0 Regular"/>
              </a:rPr>
              <a:t>🎯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 초기 개발 목표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사용자의 음정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박자를 실시간으로 분석해 캐릭터를 제어하는 게임 구현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싱글 플레이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멀티 플레이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노래 연습 모드 제공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Qt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기반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GUI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와 마이크 입력 기능 통합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임베디드 환경에서도 독립 실행 가능한 형태로 시스템 구축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3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000" b="1">
                <a:solidFill>
                  <a:srgbClr val="92D050"/>
                </a:solidFill>
                <a:latin typeface="LG스마트체2.0 Regular" panose="020B0600000101010101" pitchFamily="50" charset="-127"/>
                <a:ea typeface="LG스마트체2.0 Regular"/>
              </a:rPr>
              <a:t>✅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 실제 개발 결과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싱글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멀티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연습 모드 완성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CSV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파일을 통한 노래 데이터 파싱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다양한 곡 지원 가능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Autocorrelation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기반 피치 검출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+ MIDI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음정 매핑 구현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UDP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멀티캐스트 통신으로 멀티플레이어 동기화 구현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Buildroot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로 </a:t>
            </a:r>
            <a:r>
              <a:rPr lang="ko-KR" altLang="en-US" sz="2000" err="1">
                <a:latin typeface="LG스마트체2.0 Regular" panose="020B0600000101010101" pitchFamily="50" charset="-127"/>
                <a:ea typeface="LG스마트체2.0 Regular"/>
              </a:rPr>
              <a:t>커스터마이즈된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Rootfs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구축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자동 부팅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실행 지원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최신 커널 포팅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(6.12.35)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및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ALSA, Qt5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등 필수 드라이버 적용</a:t>
            </a:r>
          </a:p>
        </p:txBody>
      </p:sp>
    </p:spTree>
    <p:extLst>
      <p:ext uri="{BB962C8B-B14F-4D97-AF65-F5344CB8AC3E}">
        <p14:creationId xmlns:p14="http://schemas.microsoft.com/office/powerpoint/2010/main" val="7343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D3368-30CB-F1D7-C2D9-548547450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0556B-A92B-5F72-2A87-B36D53C76881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커널 포팅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7D09D8-68D9-FB70-3AEC-3D42BBE7F92B}"/>
              </a:ext>
            </a:extLst>
          </p:cNvPr>
          <p:cNvSpPr/>
          <p:nvPr/>
        </p:nvSpPr>
        <p:spPr>
          <a:xfrm>
            <a:off x="792354" y="1932614"/>
            <a:ext cx="14581118" cy="5539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3000" b="1">
                <a:latin typeface="LG스마트체2.0 Regular" panose="020B0600000101010101" pitchFamily="50" charset="-127"/>
                <a:ea typeface="LG스마트체2.0 Regular"/>
              </a:rPr>
              <a:t>1. 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임베디드 시스템 환경 구축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4EDA141-BAAB-AEC0-F72A-7A07B1FF3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475846"/>
              </p:ext>
            </p:extLst>
          </p:nvPr>
        </p:nvGraphicFramePr>
        <p:xfrm>
          <a:off x="776821" y="2710675"/>
          <a:ext cx="15984456" cy="6207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153">
                  <a:extLst>
                    <a:ext uri="{9D8B030D-6E8A-4147-A177-3AD203B41FA5}">
                      <a16:colId xmlns:a16="http://schemas.microsoft.com/office/drawing/2014/main" val="666474349"/>
                    </a:ext>
                  </a:extLst>
                </a:gridCol>
                <a:gridCol w="7819458">
                  <a:extLst>
                    <a:ext uri="{9D8B030D-6E8A-4147-A177-3AD203B41FA5}">
                      <a16:colId xmlns:a16="http://schemas.microsoft.com/office/drawing/2014/main" val="862765104"/>
                    </a:ext>
                  </a:extLst>
                </a:gridCol>
                <a:gridCol w="2836845">
                  <a:extLst>
                    <a:ext uri="{9D8B030D-6E8A-4147-A177-3AD203B41FA5}">
                      <a16:colId xmlns:a16="http://schemas.microsoft.com/office/drawing/2014/main" val="2941112873"/>
                    </a:ext>
                  </a:extLst>
                </a:gridCol>
              </a:tblGrid>
              <a:tr h="2812754">
                <a:tc>
                  <a:txBody>
                    <a:bodyPr/>
                    <a:lstStyle/>
                    <a:p>
                      <a:pPr lvl="1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20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vl="1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20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vl="1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500" b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최신 </a:t>
                      </a:r>
                      <a:r>
                        <a:rPr lang="en-US" altLang="ko-KR" sz="2500" b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Linux </a:t>
                      </a:r>
                      <a:r>
                        <a:rPr lang="ko-KR" altLang="en-US" sz="2500" b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커널 </a:t>
                      </a:r>
                      <a:r>
                        <a:rPr lang="en-US" altLang="ko-KR" sz="2500" b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6.12.35</a:t>
                      </a:r>
                      <a:r>
                        <a:rPr lang="ko-KR" altLang="en-US" sz="2500" b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 포팅</a:t>
                      </a:r>
                      <a:endParaRPr lang="en-US" altLang="ko-KR" sz="2500" b="1">
                        <a:solidFill>
                          <a:schemeClr val="tx1"/>
                        </a:solidFill>
                        <a:latin typeface="LG스마트체2.0 Regular"/>
                        <a:ea typeface="LG스마트체2.0 Regular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Serial, Framebuffer, Ethernet, ALSA </a:t>
                      </a:r>
                      <a:r>
                        <a:rPr lang="ko-KR" altLang="en-US" sz="2000" b="0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등 필수 드라이버 설정</a:t>
                      </a:r>
                    </a:p>
                    <a:p>
                      <a:pPr lvl="1" algn="l" latinLnBrk="1">
                        <a:lnSpc>
                          <a:spcPct val="150000"/>
                        </a:lnSpc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20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vl="1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20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vl="1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500" b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Customized</a:t>
                      </a:r>
                      <a:r>
                        <a:rPr lang="ko-KR" altLang="en-US" sz="2500" b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 </a:t>
                      </a:r>
                      <a:r>
                        <a:rPr lang="en-US" altLang="ko-KR" sz="2500" b="1" err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Rootfs</a:t>
                      </a:r>
                      <a:r>
                        <a:rPr lang="en-US" altLang="ko-KR" sz="2500" b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 </a:t>
                      </a:r>
                      <a:r>
                        <a:rPr lang="ko-KR" altLang="en-US" sz="2500" b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구축</a:t>
                      </a:r>
                      <a:endParaRPr lang="en-US" altLang="ko-KR" sz="2500" b="1">
                        <a:solidFill>
                          <a:schemeClr val="tx1"/>
                        </a:solidFill>
                        <a:latin typeface="LG스마트체2.0 Regular"/>
                        <a:ea typeface="LG스마트체2.0 Regular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Qt5, ALSA, </a:t>
                      </a:r>
                      <a:r>
                        <a:rPr lang="en-US" altLang="ko-KR" sz="2000" b="0" err="1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Telnetd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 </a:t>
                      </a:r>
                      <a:r>
                        <a:rPr lang="ko-KR" altLang="en-US" sz="2000" b="0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등 필수 패키지 포함</a:t>
                      </a:r>
                      <a:endParaRPr lang="en-US" altLang="ko-KR" sz="2000" b="0">
                        <a:solidFill>
                          <a:schemeClr val="tx1"/>
                        </a:solidFill>
                        <a:latin typeface="LG스마트체2.0 Regular"/>
                        <a:ea typeface="LG스마트체2.0 Regular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b="0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불필요한 파일 제거로 용량 최적화</a:t>
                      </a: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b="0">
                          <a:solidFill>
                            <a:schemeClr val="tx1"/>
                          </a:solidFill>
                          <a:latin typeface="LG스마트체2.0 Regular"/>
                          <a:ea typeface="LG스마트체2.0 Regular"/>
                        </a:rPr>
                        <a:t>한글 UI 완전 지원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20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792480"/>
                  </a:ext>
                </a:extLst>
              </a:tr>
              <a:tr h="2812754">
                <a:tc>
                  <a:txBody>
                    <a:bodyPr/>
                    <a:lstStyle/>
                    <a:p>
                      <a:pPr lvl="1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20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vl="1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20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vl="1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2500" b="1" i="0" u="none" strike="noStrike" noProof="0">
                          <a:solidFill>
                            <a:schemeClr val="tx1"/>
                          </a:solidFill>
                          <a:latin typeface="LG Smart_H2.0 R"/>
                        </a:rPr>
                        <a:t>Customized Init script</a:t>
                      </a:r>
                      <a:endParaRPr lang="en-US" altLang="ko-KR" sz="2500" b="1" i="0" u="none" strike="noStrike" noProof="0">
                        <a:solidFill>
                          <a:srgbClr val="FFFFFF"/>
                        </a:solidFill>
                        <a:latin typeface="LG Smart_H2.0 R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</a:rPr>
                        <a:t>MAC </a:t>
                      </a:r>
                      <a:r>
                        <a:rPr 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주소 기반 </a:t>
                      </a: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</a:rPr>
                        <a:t>IP </a:t>
                      </a:r>
                      <a:r>
                        <a:rPr 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자동 할당</a:t>
                      </a:r>
                      <a:endParaRPr lang="en-US" altLang="ko-KR" sz="2000" b="1" i="0" u="none" strike="noStrike" noProof="0">
                        <a:solidFill>
                          <a:srgbClr val="FFFFFF"/>
                        </a:solidFill>
                        <a:latin typeface="LG Smart_H2.0 R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</a:rPr>
                        <a:t>SD</a:t>
                      </a:r>
                      <a:r>
                        <a:rPr 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카드 자동 포맷</a:t>
                      </a:r>
                      <a:endParaRPr lang="en-US" altLang="ko-KR" sz="2000" b="0" i="0" u="none" strike="noStrike" noProof="0">
                        <a:solidFill>
                          <a:schemeClr val="tx1"/>
                        </a:solidFill>
                        <a:latin typeface="LG Smart_H2.0 R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ko-KR" altLang="en-US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부팅 시, 에러 발생 시 앱 자동 실행</a:t>
                      </a:r>
                      <a:endParaRPr lang="ko-KR" sz="2000" b="0" i="0" u="none" strike="noStrike" noProof="0">
                        <a:solidFill>
                          <a:schemeClr val="tx1"/>
                        </a:solidFill>
                        <a:latin typeface="LG Smart_H2.0 R"/>
                        <a:ea typeface="LG Smart_H2.0 R"/>
                      </a:endParaRPr>
                    </a:p>
                    <a:p>
                      <a:pPr lvl="1" algn="l">
                        <a:lnSpc>
                          <a:spcPct val="150000"/>
                        </a:lnSpc>
                        <a:buNone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vl="1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2500" b="1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Malgun Gothic"/>
                        </a:rPr>
                        <a:t>RAM Disk vs SD</a:t>
                      </a:r>
                      <a:r>
                        <a:rPr lang="ko-KR" sz="2500" b="1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카드 성능 비교</a:t>
                      </a:r>
                      <a:endParaRPr lang="en-US" altLang="ko-KR" sz="2500" b="0" i="0" u="none" strike="noStrike" noProof="0">
                        <a:solidFill>
                          <a:srgbClr val="000000"/>
                        </a:solidFill>
                        <a:latin typeface="LG Smart_H2.0 R"/>
                        <a:ea typeface="Malgun Gothic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부팅 속도와 안정성을 고려한 설계 결정</a:t>
                      </a:r>
                      <a:endParaRPr lang="en-US" altLang="ko-KR" sz="2000" b="0" i="0" u="none" strike="noStrike" noProof="0">
                        <a:solidFill>
                          <a:srgbClr val="000000"/>
                        </a:solidFill>
                        <a:latin typeface="LG Smart_H2.0 R"/>
                        <a:ea typeface="LG스마트체2.0 Regular"/>
                      </a:endParaRPr>
                    </a:p>
                    <a:p>
                      <a:pPr marL="800100" lvl="1" indent="-342900" algn="l">
                        <a:lnSpc>
                          <a:spcPct val="1500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altLang="ko-KR" sz="2000" b="0" i="0" u="none" strike="noStrike" noProof="0" err="1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루트</a:t>
                      </a: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en-US" altLang="ko-KR" sz="2000" b="0" i="0" u="none" strike="noStrike" noProof="0" err="1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파일</a:t>
                      </a: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en-US" altLang="ko-KR" sz="2000" b="0" i="0" u="none" strike="noStrike" noProof="0" err="1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시스템</a:t>
                      </a: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 -&gt;</a:t>
                      </a:r>
                      <a:r>
                        <a:rPr 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RAM</a:t>
                      </a:r>
                      <a:r>
                        <a:rPr 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 Disk</a:t>
                      </a:r>
                      <a:br>
                        <a:rPr lang="ko-KR" altLang="en-US" sz="2000" b="0" i="0" u="none" strike="noStrike" noProof="0">
                          <a:solidFill>
                            <a:srgbClr val="000000"/>
                          </a:solidFill>
                          <a:latin typeface="LG Smart_H2.0 R"/>
                          <a:ea typeface="LG Smart_H2.0 R"/>
                        </a:rPr>
                      </a:b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리소스 </a:t>
                      </a:r>
                      <a:r>
                        <a:rPr lang="en-US" altLang="ko-KR" sz="2000" b="0" i="0" u="none" strike="noStrike" noProof="0" err="1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파일</a:t>
                      </a: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(</a:t>
                      </a:r>
                      <a:r>
                        <a:rPr lang="en-US" altLang="ko-KR" sz="2000" b="0" i="0" u="none" strike="noStrike" noProof="0" err="1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이미지</a:t>
                      </a: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, </a:t>
                      </a:r>
                      <a:r>
                        <a:rPr lang="en-US" altLang="ko-KR" sz="2000" b="0" i="0" u="none" strike="noStrike" noProof="0" err="1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음악</a:t>
                      </a:r>
                      <a:r>
                        <a:rPr lang="en-US" altLang="ko-KR" sz="2000" b="0" i="0" u="none" strike="noStrike" noProof="0">
                          <a:solidFill>
                            <a:schemeClr val="tx1"/>
                          </a:solidFill>
                          <a:latin typeface="LG Smart_H2.0 R"/>
                          <a:ea typeface="LG Smart_H2.0 R"/>
                        </a:rPr>
                        <a:t> 등) -&gt; SD카드</a:t>
                      </a:r>
                      <a:endParaRPr lang="ko-KR" sz="2000" b="0" i="0" u="none" strike="noStrike" noProof="0">
                        <a:solidFill>
                          <a:schemeClr val="tx1"/>
                        </a:solidFill>
                        <a:latin typeface="LG Smart_H2.0 R"/>
                        <a:ea typeface="LG Smart_H2.0 R"/>
                      </a:endParaRPr>
                    </a:p>
                    <a:p>
                      <a:pPr lvl="1" algn="l">
                        <a:lnSpc>
                          <a:spcPct val="150000"/>
                        </a:lnSpc>
                        <a:buNone/>
                      </a:pPr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l" latinLnBrk="1">
                        <a:lnSpc>
                          <a:spcPct val="150000"/>
                        </a:lnSpc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3542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D6518F89-5B0F-2945-E7E1-5CE979EA6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101" y="2892996"/>
            <a:ext cx="591615" cy="69401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A9AEF2D-B877-A65B-5DF7-CB4AE7C59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404" y="2892996"/>
            <a:ext cx="747019" cy="67806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86C909A-55B0-B0CE-096B-C252B319C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497" y="5817278"/>
            <a:ext cx="781247" cy="67806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9D4716B-9C64-0A17-92D9-95F5D7DF7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678" y="5936096"/>
            <a:ext cx="786253" cy="55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4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4A903-1E68-7149-6D2B-4B49F9D3D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A59EA5-B4E2-B47F-4141-D98A0C84C124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커널 포팅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99F72D-D8A7-12F0-B613-FA6004DC6052}"/>
              </a:ext>
            </a:extLst>
          </p:cNvPr>
          <p:cNvSpPr/>
          <p:nvPr/>
        </p:nvSpPr>
        <p:spPr>
          <a:xfrm>
            <a:off x="792354" y="1932614"/>
            <a:ext cx="6168791" cy="66808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3000" b="1">
                <a:latin typeface="LG Smart_H2.0 R"/>
                <a:ea typeface="LG스마트체2.0 Regular"/>
              </a:rPr>
              <a:t>1. </a:t>
            </a:r>
            <a:r>
              <a:rPr lang="ko-KR" altLang="en-US" sz="3000" b="1">
                <a:latin typeface="LG Smart_H2.0 R"/>
                <a:ea typeface="LG Smart_H2.0 R"/>
              </a:rPr>
              <a:t>임베디드 시스템 환경 구축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+mn-lt"/>
              </a:rPr>
              <a:t>       </a:t>
            </a:r>
            <a:r>
              <a:rPr lang="en-US" altLang="ko-KR" sz="2800" b="1">
                <a:latin typeface="LG Smart_H2.0 R"/>
                <a:ea typeface="+mn-lt"/>
              </a:rPr>
              <a:t>Booting Sequence</a:t>
            </a:r>
            <a:endParaRPr lang="ko-KR" altLang="en-US" sz="2800" b="1">
              <a:latin typeface="LG Smart_H2.0 R"/>
              <a:ea typeface="LG Smart_H2.0 R"/>
            </a:endParaRPr>
          </a:p>
          <a:p>
            <a:pPr>
              <a:lnSpc>
                <a:spcPct val="150000"/>
              </a:lnSpc>
            </a:pPr>
            <a:endParaRPr lang="en-US" altLang="ko-KR" sz="2000" b="1">
              <a:latin typeface="LG Smart_H2.0 R"/>
              <a:ea typeface="+mn-lt"/>
            </a:endParaRP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Calibri"/>
              </a:rPr>
              <a:t>    Setup Network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Calibri"/>
                <a:cs typeface="Calibri"/>
              </a:rPr>
              <a:t>      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-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현재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보드의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MAC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주소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확인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- MAC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주소의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값에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따라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동적으로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IP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할당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Calibri"/>
                <a:cs typeface="Calibri"/>
              </a:rPr>
              <a:t>    Mount SD Card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Calibri"/>
                <a:cs typeface="Calibri"/>
              </a:rPr>
              <a:t>     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- Partition table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확인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- (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최초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1회)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SD카드를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ext4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형식으로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포맷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-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루트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파일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시스템에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마운트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</a:t>
            </a:r>
            <a:r>
              <a:rPr lang="en-US" altLang="ko-KR" sz="2000" b="1">
                <a:latin typeface="LG Smart_H2.0 R"/>
                <a:ea typeface="Calibri"/>
                <a:cs typeface="Calibri"/>
              </a:rPr>
              <a:t>Launch Qt Application</a:t>
            </a: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-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필요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환경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변수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설정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-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부팅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후 App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자동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실행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- App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비정상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종료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시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다시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실행</a:t>
            </a:r>
            <a:endParaRPr lang="en-US" altLang="ko-KR" sz="2000">
              <a:latin typeface="LG Smart_H2.0 R"/>
              <a:ea typeface="Calibri"/>
              <a:cs typeface="Calibri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4E2F93BF-F110-3C31-5276-F14837CE27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9346" y="1375125"/>
            <a:ext cx="11412786" cy="850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43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7D982-8422-57AA-887C-18AA4664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66C1C6-7205-41A1-634C-A9BCD8E26E08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커널 포팅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3" name="그림 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7072F4-8227-8C03-3BA6-A257E2EB1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61" y="1629571"/>
            <a:ext cx="3928302" cy="8003234"/>
          </a:xfrm>
          <a:prstGeom prst="rect">
            <a:avLst/>
          </a:prstGeom>
        </p:spPr>
      </p:pic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997819-3A53-AD3A-9C10-C71AF2814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8283" y="1634324"/>
            <a:ext cx="7011124" cy="794097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AC6FCA9-38D3-5BAA-9A40-AF6A54DEFE48}"/>
              </a:ext>
            </a:extLst>
          </p:cNvPr>
          <p:cNvSpPr/>
          <p:nvPr/>
        </p:nvSpPr>
        <p:spPr>
          <a:xfrm>
            <a:off x="792354" y="1932614"/>
            <a:ext cx="6168791" cy="62191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3000" b="1">
                <a:latin typeface="LG Smart_H2.0 R"/>
                <a:ea typeface="LG스마트체2.0 Regular"/>
              </a:rPr>
              <a:t>1. </a:t>
            </a:r>
            <a:r>
              <a:rPr lang="ko-KR" altLang="en-US" sz="3000" b="1">
                <a:latin typeface="LG Smart_H2.0 R"/>
                <a:ea typeface="LG Smart_H2.0 R"/>
              </a:rPr>
              <a:t>임베디드 시스템 환경 구축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+mn-lt"/>
              </a:rPr>
              <a:t>       </a:t>
            </a:r>
            <a:r>
              <a:rPr lang="en-US" altLang="ko-KR" sz="2800" b="1">
                <a:latin typeface="LG Smart_H2.0 R"/>
                <a:ea typeface="+mn-lt"/>
              </a:rPr>
              <a:t>Custom </a:t>
            </a:r>
            <a:r>
              <a:rPr lang="en-US" altLang="ko-KR" sz="2800" b="1" err="1">
                <a:latin typeface="LG Smart_H2.0 R"/>
                <a:ea typeface="+mn-lt"/>
              </a:rPr>
              <a:t>init</a:t>
            </a:r>
            <a:r>
              <a:rPr lang="en-US" altLang="ko-KR" sz="2800" b="1">
                <a:latin typeface="LG Smart_H2.0 R"/>
                <a:ea typeface="+mn-lt"/>
              </a:rPr>
              <a:t> script</a:t>
            </a:r>
            <a:endParaRPr lang="ko-KR" altLang="en-US" sz="2800" b="1">
              <a:latin typeface="LG Smart_H2.0 R"/>
              <a:ea typeface="LG Smart_H2.0 R"/>
            </a:endParaRPr>
          </a:p>
          <a:p>
            <a:pPr>
              <a:lnSpc>
                <a:spcPct val="150000"/>
              </a:lnSpc>
            </a:pPr>
            <a:endParaRPr lang="en-US" altLang="ko-KR" sz="2000" b="1">
              <a:latin typeface="LG Smart_H2.0 R"/>
              <a:ea typeface="+mn-lt"/>
            </a:endParaRP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Calibri"/>
              </a:rPr>
              <a:t>    set_ip_by_mac.sh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Calibri"/>
                <a:cs typeface="Calibri"/>
              </a:rPr>
              <a:t>     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현재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보드의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MAC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주소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확인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MAC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주소의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값에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따라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동적으로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IP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할당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: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하나의</a:t>
            </a:r>
            <a:r>
              <a:rPr lang="en-US" sz="2000">
                <a:latin typeface="LG Smart_H2.0 R"/>
                <a:ea typeface="LG Smart_H2.0 R"/>
                <a:cs typeface="Calibri"/>
              </a:rPr>
              <a:t> RFS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Image로</a:t>
            </a:r>
            <a:r>
              <a:rPr lang="en-US" sz="2000">
                <a:latin typeface="LG Smart_H2.0 R"/>
                <a:ea typeface="LG Smart_H2.0 R"/>
                <a:cs typeface="Calibri"/>
              </a:rPr>
              <a:t>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여러</a:t>
            </a:r>
            <a:r>
              <a:rPr lang="en-US" sz="2000">
                <a:latin typeface="LG Smart_H2.0 R"/>
                <a:ea typeface="LG Smart_H2.0 R"/>
                <a:cs typeface="Calibri"/>
              </a:rPr>
              <a:t>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보드에</a:t>
            </a:r>
            <a:r>
              <a:rPr lang="en-US" sz="2000">
                <a:latin typeface="LG Smart_H2.0 R"/>
                <a:ea typeface="LG Smart_H2.0 R"/>
                <a:cs typeface="Calibri"/>
              </a:rPr>
              <a:t>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배포</a:t>
            </a:r>
            <a:r>
              <a:rPr lang="en-US" sz="2000">
                <a:latin typeface="LG Smart_H2.0 R"/>
                <a:ea typeface="LG Smart_H2.0 R"/>
                <a:cs typeface="Calibri"/>
              </a:rPr>
              <a:t> </a:t>
            </a:r>
            <a:r>
              <a:rPr lang="ko-KR" altLang="en-US" sz="2000">
                <a:latin typeface="LG Smart_H2.0 R"/>
                <a:ea typeface="LG Smart_H2.0 R"/>
                <a:cs typeface="Calibri"/>
              </a:rPr>
              <a:t>가능</a:t>
            </a:r>
            <a:br>
              <a:rPr lang="ko-KR" altLang="en-US" sz="2000">
                <a:latin typeface="LG Smart_H2.0 R"/>
                <a:ea typeface="LG Smart_H2.0 R"/>
                <a:cs typeface="Calibri"/>
              </a:rPr>
            </a:br>
            <a:endParaRPr lang="ko-KR" altLang="en-US" sz="2000">
              <a:latin typeface="LG Smart_H2.0 R"/>
              <a:ea typeface="LG Smart_H2.0 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Calibri"/>
                <a:cs typeface="Calibri"/>
              </a:rPr>
              <a:t>    sd_partition_format.sh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Calibri"/>
                <a:cs typeface="Calibri"/>
              </a:rPr>
              <a:t>     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Partition table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확인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(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최초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1회)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SD카드를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ext4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형식으로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포맷</a:t>
            </a: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: </a:t>
            </a:r>
            <a:r>
              <a:rPr lang="en-US" sz="2000">
                <a:latin typeface="LG Smart_H2.0 R"/>
                <a:ea typeface="LG Smart_H2.0 R"/>
                <a:cs typeface="Calibri"/>
              </a:rPr>
              <a:t>각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보드에</a:t>
            </a:r>
            <a:r>
              <a:rPr lang="en-US" sz="2000">
                <a:latin typeface="LG Smart_H2.0 R"/>
                <a:ea typeface="LG Smart_H2.0 R"/>
                <a:cs typeface="Calibri"/>
              </a:rPr>
              <a:t>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추가적인</a:t>
            </a:r>
            <a:r>
              <a:rPr lang="en-US" sz="2000">
                <a:latin typeface="LG Smart_H2.0 R"/>
                <a:ea typeface="LG Smart_H2.0 R"/>
                <a:cs typeface="Calibri"/>
              </a:rPr>
              <a:t>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포맷</a:t>
            </a:r>
            <a:r>
              <a:rPr lang="en-US" sz="2000">
                <a:latin typeface="LG Smart_H2.0 R"/>
                <a:ea typeface="LG Smart_H2.0 R"/>
                <a:cs typeface="Calibri"/>
              </a:rPr>
              <a:t>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설정</a:t>
            </a:r>
            <a:r>
              <a:rPr lang="en-US" sz="2000">
                <a:latin typeface="LG Smart_H2.0 R"/>
                <a:ea typeface="LG Smart_H2.0 R"/>
                <a:cs typeface="Calibri"/>
              </a:rPr>
              <a:t> </a:t>
            </a:r>
            <a:r>
              <a:rPr lang="en-US" sz="2000" err="1">
                <a:latin typeface="LG Smart_H2.0 R"/>
                <a:ea typeface="LG Smart_H2.0 R"/>
                <a:cs typeface="Calibri"/>
              </a:rPr>
              <a:t>불필요</a:t>
            </a:r>
            <a:endParaRPr lang="en-US" altLang="ko-KR" sz="2000" err="1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</a:t>
            </a:r>
            <a:endParaRPr lang="en-US" altLang="ko-KR" sz="2000" b="1">
              <a:latin typeface="LG Smart_H2.0 R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28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64A9-931A-7602-1241-0E810573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44A754-40FB-2F4F-F29F-C30DAB87DE2D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커널 포팅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EFDB2B-8D68-3BB0-9356-4C30BA5D9521}"/>
              </a:ext>
            </a:extLst>
          </p:cNvPr>
          <p:cNvSpPr/>
          <p:nvPr/>
        </p:nvSpPr>
        <p:spPr>
          <a:xfrm>
            <a:off x="792700" y="1932614"/>
            <a:ext cx="6168791" cy="483414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3000" b="1">
                <a:latin typeface="LG Smart_H2.0 R"/>
                <a:ea typeface="LG스마트체2.0 Regular"/>
              </a:rPr>
              <a:t>1. </a:t>
            </a:r>
            <a:r>
              <a:rPr lang="ko-KR" altLang="en-US" sz="3000" b="1">
                <a:latin typeface="LG Smart_H2.0 R"/>
                <a:ea typeface="LG Smart_H2.0 R"/>
              </a:rPr>
              <a:t>임베디드 시스템 환경 구축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 Smart_H2.0 R"/>
                <a:ea typeface="+mn-lt"/>
              </a:rPr>
              <a:t>       </a:t>
            </a:r>
            <a:r>
              <a:rPr lang="en-US" sz="2800" b="1">
                <a:latin typeface="LG Smart_H2.0 R"/>
                <a:ea typeface="LG Smart_H2.0 R"/>
              </a:rPr>
              <a:t>Custom </a:t>
            </a:r>
            <a:r>
              <a:rPr lang="en-US" sz="2800" b="1" err="1">
                <a:latin typeface="LG Smart_H2.0 R"/>
                <a:ea typeface="LG Smart_H2.0 R"/>
              </a:rPr>
              <a:t>init</a:t>
            </a:r>
            <a:r>
              <a:rPr lang="en-US" sz="2800" b="1">
                <a:latin typeface="LG Smart_H2.0 R"/>
                <a:ea typeface="LG Smart_H2.0 R"/>
              </a:rPr>
              <a:t> script</a:t>
            </a:r>
            <a:endParaRPr lang="en-US" sz="2800">
              <a:latin typeface="LG Smart_H2.0 R"/>
              <a:ea typeface="LG Smart_H2.0 R"/>
            </a:endParaRPr>
          </a:p>
          <a:p>
            <a:pPr>
              <a:lnSpc>
                <a:spcPct val="150000"/>
              </a:lnSpc>
            </a:pPr>
            <a:endParaRPr lang="en-US" altLang="ko-KR" sz="2000" b="1">
              <a:latin typeface="LG Smart_H2.0 R"/>
              <a:ea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</a:t>
            </a:r>
            <a:r>
              <a:rPr lang="en-US" altLang="ko-KR" sz="2000" b="1">
                <a:latin typeface="LG Smart_H2.0 R"/>
                <a:ea typeface="Calibri"/>
                <a:cs typeface="Calibri"/>
              </a:rPr>
              <a:t>init_app.sh</a:t>
            </a: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필요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환경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변수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설정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부팅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후 App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자동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실행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</a:t>
            </a:r>
            <a:r>
              <a:rPr lang="en-US" altLang="ko-KR" sz="2000" err="1">
                <a:latin typeface="LG Smart_H2.0 R"/>
                <a:ea typeface="+mn-lt"/>
                <a:cs typeface="+mn-lt"/>
              </a:rPr>
              <a:t>App의</a:t>
            </a:r>
            <a:r>
              <a:rPr lang="en-US" altLang="ko-KR" sz="2000">
                <a:latin typeface="LG Smart_H2.0 R"/>
                <a:ea typeface="+mn-lt"/>
                <a:cs typeface="+mn-lt"/>
              </a:rPr>
              <a:t> </a:t>
            </a:r>
            <a:r>
              <a:rPr lang="en-US" altLang="ko-KR" sz="2000" err="1">
                <a:latin typeface="LG Smart_H2.0 R"/>
                <a:ea typeface="+mn-lt"/>
                <a:cs typeface="+mn-lt"/>
              </a:rPr>
              <a:t>세그멘테이션</a:t>
            </a:r>
            <a:r>
              <a:rPr lang="en-US" altLang="ko-KR" sz="2000">
                <a:latin typeface="LG Smart_H2.0 R"/>
                <a:ea typeface="+mn-lt"/>
                <a:cs typeface="+mn-lt"/>
              </a:rPr>
              <a:t> 폴트 등 </a:t>
            </a:r>
            <a:br>
              <a:rPr lang="en-US" altLang="ko-KR" sz="2000">
                <a:latin typeface="LG Smart_H2.0 R"/>
                <a:ea typeface="+mn-lt"/>
                <a:cs typeface="+mn-lt"/>
              </a:rPr>
            </a:br>
            <a:r>
              <a:rPr lang="en-US" altLang="ko-KR" sz="2000">
                <a:latin typeface="LG Smart_H2.0 R"/>
                <a:ea typeface="+mn-lt"/>
                <a:cs typeface="+mn-lt"/>
              </a:rPr>
              <a:t>      </a:t>
            </a:r>
            <a:r>
              <a:rPr lang="en-US" altLang="ko-KR" sz="2000" err="1">
                <a:latin typeface="LG Smart_H2.0 R"/>
                <a:ea typeface="+mn-lt"/>
                <a:cs typeface="+mn-lt"/>
              </a:rPr>
              <a:t>비정상</a:t>
            </a:r>
            <a:r>
              <a:rPr lang="en-US" altLang="ko-KR" sz="2000">
                <a:latin typeface="LG Smart_H2.0 R"/>
                <a:ea typeface="+mn-lt"/>
                <a:cs typeface="+mn-lt"/>
              </a:rPr>
              <a:t> </a:t>
            </a:r>
            <a:r>
              <a:rPr lang="en-US" altLang="ko-KR" sz="2000" err="1">
                <a:latin typeface="LG Smart_H2.0 R"/>
                <a:ea typeface="+mn-lt"/>
                <a:cs typeface="+mn-lt"/>
              </a:rPr>
              <a:t>종료가</a:t>
            </a:r>
            <a:r>
              <a:rPr lang="en-US" altLang="ko-KR" sz="2000">
                <a:latin typeface="LG Smart_H2.0 R"/>
                <a:ea typeface="+mn-lt"/>
                <a:cs typeface="+mn-lt"/>
              </a:rPr>
              <a:t> </a:t>
            </a:r>
            <a:r>
              <a:rPr lang="en-US" altLang="ko-KR" sz="2000" err="1">
                <a:latin typeface="LG Smart_H2.0 R"/>
                <a:ea typeface="+mn-lt"/>
                <a:cs typeface="+mn-lt"/>
              </a:rPr>
              <a:t>감지될</a:t>
            </a:r>
            <a:r>
              <a:rPr lang="en-US" altLang="ko-KR" sz="2000">
                <a:latin typeface="LG Smart_H2.0 R"/>
                <a:ea typeface="+mn-lt"/>
                <a:cs typeface="+mn-lt"/>
              </a:rPr>
              <a:t> </a:t>
            </a:r>
            <a:r>
              <a:rPr lang="en-US" altLang="ko-KR" sz="2000" err="1">
                <a:latin typeface="LG Smart_H2.0 R"/>
                <a:ea typeface="+mn-lt"/>
                <a:cs typeface="+mn-lt"/>
              </a:rPr>
              <a:t>경우</a:t>
            </a:r>
            <a:r>
              <a:rPr lang="en-US" altLang="ko-KR" sz="2000">
                <a:latin typeface="LG Smart_H2.0 R"/>
                <a:ea typeface="+mn-lt"/>
                <a:cs typeface="+mn-lt"/>
              </a:rPr>
              <a:t>, </a:t>
            </a:r>
            <a:r>
              <a:rPr lang="en-US" altLang="ko-KR" sz="2000" err="1">
                <a:latin typeface="LG Smart_H2.0 R"/>
                <a:ea typeface="+mn-lt"/>
                <a:cs typeface="+mn-lt"/>
              </a:rPr>
              <a:t>즉시</a:t>
            </a:r>
            <a:r>
              <a:rPr lang="en-US" altLang="ko-KR" sz="2000">
                <a:latin typeface="LG Smart_H2.0 R"/>
                <a:ea typeface="+mn-lt"/>
                <a:cs typeface="+mn-lt"/>
              </a:rPr>
              <a:t> </a:t>
            </a:r>
            <a:r>
              <a:rPr lang="en-US" altLang="ko-KR" sz="2000" err="1">
                <a:latin typeface="LG Smart_H2.0 R"/>
                <a:ea typeface="+mn-lt"/>
                <a:cs typeface="+mn-lt"/>
              </a:rPr>
              <a:t>재실행</a:t>
            </a:r>
            <a:endParaRPr lang="en-US" altLang="ko-KR" sz="2000">
              <a:latin typeface="LG Smart_H2.0 R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LG Smart_H2.0 R"/>
                <a:ea typeface="Calibri"/>
                <a:cs typeface="Calibri"/>
              </a:rPr>
              <a:t>      :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사용자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혼란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최소화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,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유지보수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부담</a:t>
            </a:r>
            <a:r>
              <a:rPr lang="en-US" altLang="ko-KR" sz="2000">
                <a:latin typeface="LG Smart_H2.0 R"/>
                <a:ea typeface="Calibri"/>
                <a:cs typeface="Calibri"/>
              </a:rPr>
              <a:t> </a:t>
            </a:r>
            <a:r>
              <a:rPr lang="en-US" altLang="ko-KR" sz="2000" err="1">
                <a:latin typeface="LG Smart_H2.0 R"/>
                <a:ea typeface="Calibri"/>
                <a:cs typeface="Calibri"/>
              </a:rPr>
              <a:t>감소</a:t>
            </a:r>
            <a:endParaRPr lang="en-US" altLang="ko-KR" sz="2000">
              <a:latin typeface="LG Smart_H2.0 R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altLang="ko-KR" sz="2000">
              <a:latin typeface="LG Smart_H2.0 R"/>
              <a:ea typeface="Calibri"/>
              <a:cs typeface="Calibri"/>
            </a:endParaRPr>
          </a:p>
        </p:txBody>
      </p: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80031C-9FD3-D9B5-6FF0-1D4582821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550" y="1932399"/>
            <a:ext cx="7800722" cy="5284248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1341F6-3B24-3545-2C3C-A7E50FCE1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6364" y="6339663"/>
            <a:ext cx="6955930" cy="290002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4F9D975-B78E-0648-D90B-65144E3B8548}"/>
              </a:ext>
            </a:extLst>
          </p:cNvPr>
          <p:cNvSpPr/>
          <p:nvPr/>
        </p:nvSpPr>
        <p:spPr>
          <a:xfrm>
            <a:off x="6798647" y="8344365"/>
            <a:ext cx="6168791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ko-KR" sz="2000" err="1">
                <a:latin typeface="LG Smart_H2.0 R"/>
                <a:ea typeface="LG Smart_H2.0 R"/>
                <a:cs typeface="Calibri"/>
              </a:rPr>
              <a:t>Custom</a:t>
            </a:r>
            <a:r>
              <a:rPr lang="ko-KR" sz="2000">
                <a:latin typeface="LG Smart_H2.0 R"/>
                <a:ea typeface="LG Smart_H2.0 R"/>
                <a:cs typeface="Calibri"/>
              </a:rPr>
              <a:t> </a:t>
            </a:r>
            <a:r>
              <a:rPr lang="ko-KR" sz="2000" err="1">
                <a:latin typeface="LG Smart_H2.0 R"/>
                <a:ea typeface="LG Smart_H2.0 R"/>
                <a:cs typeface="Calibri"/>
              </a:rPr>
              <a:t>init</a:t>
            </a:r>
            <a:r>
              <a:rPr lang="ko-KR" sz="2000">
                <a:latin typeface="LG Smart_H2.0 R"/>
                <a:ea typeface="LG Smart_H2.0 R"/>
                <a:cs typeface="Calibri"/>
              </a:rPr>
              <a:t> </a:t>
            </a:r>
            <a:r>
              <a:rPr lang="ko-KR" sz="2000" err="1">
                <a:latin typeface="LG Smart_H2.0 R"/>
                <a:ea typeface="LG Smart_H2.0 R"/>
                <a:cs typeface="Calibri"/>
              </a:rPr>
              <a:t>scrip를</a:t>
            </a:r>
            <a:endParaRPr lang="ko-KR" err="1"/>
          </a:p>
          <a:p>
            <a:r>
              <a:rPr lang="ko-KR" sz="2000">
                <a:latin typeface="LG Smart_H2.0 R"/>
                <a:ea typeface="LG Smart_H2.0 R"/>
                <a:cs typeface="Calibri"/>
              </a:rPr>
              <a:t> /</a:t>
            </a:r>
            <a:r>
              <a:rPr lang="ko-KR" sz="2000" err="1">
                <a:latin typeface="LG Smart_H2.0 R"/>
                <a:ea typeface="LG Smart_H2.0 R"/>
                <a:cs typeface="Calibri"/>
              </a:rPr>
              <a:t>etc</a:t>
            </a:r>
            <a:r>
              <a:rPr lang="ko-KR" sz="2000">
                <a:latin typeface="LG Smart_H2.0 R"/>
                <a:ea typeface="LG Smart_H2.0 R"/>
                <a:cs typeface="Calibri"/>
              </a:rPr>
              <a:t>/</a:t>
            </a:r>
            <a:r>
              <a:rPr lang="ko-KR" sz="2000" err="1">
                <a:latin typeface="LG Smart_H2.0 R"/>
                <a:ea typeface="LG Smart_H2.0 R"/>
                <a:cs typeface="Calibri"/>
              </a:rPr>
              <a:t>inittab</a:t>
            </a:r>
            <a:r>
              <a:rPr lang="ko-KR" sz="2000">
                <a:latin typeface="LG Smart_H2.0 R"/>
                <a:ea typeface="LG Smart_H2.0 R"/>
                <a:cs typeface="Calibri"/>
              </a:rPr>
              <a:t> 작성하여 실행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26547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디바이스 드라이버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16F6CB-EDE7-4DC6-AE18-EA88828B8AF3}"/>
              </a:ext>
            </a:extLst>
          </p:cNvPr>
          <p:cNvSpPr/>
          <p:nvPr/>
        </p:nvSpPr>
        <p:spPr>
          <a:xfrm>
            <a:off x="878468" y="2238934"/>
            <a:ext cx="7525144" cy="400475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000" b="1">
                <a:solidFill>
                  <a:schemeClr val="tx1">
                    <a:lumMod val="50000"/>
                    <a:lumOff val="50000"/>
                  </a:schemeClr>
                </a:solidFill>
                <a:latin typeface="LG스마트체2.0 Regular" panose="020B0600000101010101" pitchFamily="50" charset="-127"/>
                <a:ea typeface="LG스마트체2.0 Regular"/>
              </a:rPr>
              <a:t>🎤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000" b="1">
                <a:latin typeface="LG스마트체2.0 Regular" panose="020B0600000101010101" pitchFamily="50" charset="-127"/>
                <a:ea typeface="LG스마트체2.0 Regular"/>
              </a:rPr>
              <a:t>2. 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실시간 오디오 입력 및 음정 분석</a:t>
            </a:r>
            <a:endParaRPr lang="en-US" altLang="ko-KR" sz="3000" b="1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ALSA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(Audio Linux Sound Architecture)</a:t>
            </a:r>
            <a:r>
              <a:rPr lang="ko-KR" altLang="en-US" sz="2000" err="1">
                <a:latin typeface="LG스마트체2.0 Regular" panose="020B0600000101010101" pitchFamily="50" charset="-127"/>
                <a:ea typeface="LG스마트체2.0 Regular"/>
              </a:rPr>
              <a:t>를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사용해 마이크로부터 실시간 PCM 오디오 데이터를 수집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입력 신호에서 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RMS(Root Mean Square)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계산을 통해 볼륨 측정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sz="2000">
                <a:ea typeface="+mn-lt"/>
                <a:cs typeface="+mn-lt"/>
              </a:rPr>
              <a:t>일정 수준 이하의 신호는 배경 소음으로 판단해 무시함으로써, 사용자 음성만을 정확하게 인식할 수 있도록 설계</a:t>
            </a:r>
            <a:endParaRPr lang="ko-KR" altLang="en-US" sz="2000">
              <a:latin typeface="LG스마트체2.0 Regular" panose="020B0600000101010101" pitchFamily="50" charset="-127"/>
              <a:ea typeface="LG스마트체2.0 Regular"/>
            </a:endParaRPr>
          </a:p>
        </p:txBody>
      </p:sp>
      <p:pic>
        <p:nvPicPr>
          <p:cNvPr id="3" name="그림 2" descr="PlantUML Diagram">
            <a:extLst>
              <a:ext uri="{FF2B5EF4-FFF2-40B4-BE49-F238E27FC236}">
                <a16:creationId xmlns:a16="http://schemas.microsoft.com/office/drawing/2014/main" id="{8B65F61E-80BA-FA61-2C35-3CA7B6A39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748" y="1987991"/>
            <a:ext cx="7516783" cy="709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60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E6FE-B43F-6D01-3C0C-6C02EEE2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6990B6-E557-5A35-A070-34989AE09484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디바이스 드라이버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9DB8EE-AA84-DFB9-5A03-B33E5E4825BE}"/>
              </a:ext>
            </a:extLst>
          </p:cNvPr>
          <p:cNvSpPr/>
          <p:nvPr/>
        </p:nvSpPr>
        <p:spPr>
          <a:xfrm>
            <a:off x="878468" y="2207854"/>
            <a:ext cx="7525144" cy="58421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000" b="1">
                <a:solidFill>
                  <a:schemeClr val="tx1">
                    <a:lumMod val="50000"/>
                    <a:lumOff val="50000"/>
                  </a:schemeClr>
                </a:solidFill>
                <a:latin typeface="LG스마트체2.0 Regular" panose="020B0600000101010101" pitchFamily="50" charset="-127"/>
                <a:ea typeface="LG스마트체2.0 Regular"/>
              </a:rPr>
              <a:t>🎤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000" b="1">
                <a:latin typeface="LG스마트체2.0 Regular" panose="020B0600000101010101" pitchFamily="50" charset="-127"/>
                <a:ea typeface="LG스마트체2.0 Regular"/>
              </a:rPr>
              <a:t>2. 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실시간 오디오 입력 및 음정 분석</a:t>
            </a:r>
            <a:endParaRPr lang="en-US" altLang="ko-KR" sz="3000" b="1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FFT(Fast Fourier Transform)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알고리즘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을 활용해 시간 영역에서 기본 주파수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(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피치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)</a:t>
            </a:r>
            <a:r>
              <a:rPr lang="ko-KR" altLang="en-US" sz="2000" err="1">
                <a:latin typeface="LG스마트체2.0 Regular" panose="020B0600000101010101" pitchFamily="50" charset="-127"/>
                <a:ea typeface="LG스마트체2.0 Regular"/>
              </a:rPr>
              <a:t>를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추정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가장 큰 에너지 가지는 주파수 중심으로 양 옆 스펙트럼 값 이용, 선형 보간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추정된 피치를 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MIDI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음정 값으로 변환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이를 다시 게임 화면의 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Y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좌표에 매핑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하여 캐릭터 위치 제어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사용자가 정확한 음정을 유지할수록 캐릭터가 장애물을 잘 피할 수 있음</a:t>
            </a:r>
          </a:p>
        </p:txBody>
      </p:sp>
      <p:pic>
        <p:nvPicPr>
          <p:cNvPr id="3" name="그림 2" descr="PlantUML Diagram">
            <a:extLst>
              <a:ext uri="{FF2B5EF4-FFF2-40B4-BE49-F238E27FC236}">
                <a16:creationId xmlns:a16="http://schemas.microsoft.com/office/drawing/2014/main" id="{8C98B598-72F2-F01D-FE20-B73C2328C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748" y="1987991"/>
            <a:ext cx="7516783" cy="709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39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9454-30B0-0AD4-C196-F1C28D03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06ECC6-295F-57F5-B525-6607DC71F867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APP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3" name="그림 2" descr="스크린샷, 디자인, 일러스트레이션이(가) 표시된 사진">
            <a:extLst>
              <a:ext uri="{FF2B5EF4-FFF2-40B4-BE49-F238E27FC236}">
                <a16:creationId xmlns:a16="http://schemas.microsoft.com/office/drawing/2014/main" id="{6E22D66C-48D4-3683-4569-5DF2F13AF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687" y="2918050"/>
            <a:ext cx="8730635" cy="5115607"/>
          </a:xfrm>
          <a:prstGeom prst="rect">
            <a:avLst/>
          </a:prstGeom>
          <a:ln w="47625">
            <a:solidFill>
              <a:schemeClr val="accent2"/>
            </a:solidFill>
          </a:ln>
          <a:effectLst>
            <a:softEdge rad="50800"/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64D338A-2956-19A9-3C07-92BD41BF694A}"/>
              </a:ext>
            </a:extLst>
          </p:cNvPr>
          <p:cNvSpPr/>
          <p:nvPr/>
        </p:nvSpPr>
        <p:spPr>
          <a:xfrm>
            <a:off x="13270143" y="1704449"/>
            <a:ext cx="4361971" cy="138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Sound System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제공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</a:t>
            </a:r>
            <a:r>
              <a:rPr lang="ko-KR" altLang="en-US" sz="2000" b="1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배경음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효과음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-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배경음악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t>효과음 등 </a:t>
            </a:r>
            <a:r>
              <a:rPr lang="ko-KR" altLang="en-US">
                <a:solidFill>
                  <a:prstClr val="black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스피커를 통해 즐거운 게임 환경을 생성</a:t>
            </a:r>
            <a:endParaRPr lang="en-US" altLang="ko-KR">
              <a:solidFill>
                <a:prstClr val="black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0566C6-673F-7ED5-00B3-DF74B9915D71}"/>
              </a:ext>
            </a:extLst>
          </p:cNvPr>
          <p:cNvSpPr/>
          <p:nvPr/>
        </p:nvSpPr>
        <p:spPr>
          <a:xfrm>
            <a:off x="0" y="3556496"/>
            <a:ext cx="4221410" cy="1801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난이도 조절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-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상하 장애물 간 </a:t>
            </a: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gap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차이</a:t>
            </a: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장애물 생성 주기 등 변수들을 구간마다 난수 생성하여 게임 난이도 설정</a:t>
            </a:r>
            <a:endParaRPr lang="en-US" alt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9E3364-8BB3-76C0-6359-257208727C8D}"/>
              </a:ext>
            </a:extLst>
          </p:cNvPr>
          <p:cNvSpPr/>
          <p:nvPr/>
        </p:nvSpPr>
        <p:spPr>
          <a:xfrm>
            <a:off x="13270143" y="3556496"/>
            <a:ext cx="4221410" cy="133145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 이상 멀티미디어 모드 지원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UDP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소켓  통신을 통한 여러 명 동시 게임 가능</a:t>
            </a:r>
            <a:endParaRPr lang="en-US" altLang="ko-KR"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A398E0-1186-B320-B594-A8FB7AE96EFA}"/>
              </a:ext>
            </a:extLst>
          </p:cNvPr>
          <p:cNvSpPr/>
          <p:nvPr/>
        </p:nvSpPr>
        <p:spPr>
          <a:xfrm>
            <a:off x="13270143" y="5727347"/>
            <a:ext cx="4221410" cy="133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랭킹시스템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- Single play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에서 각 플레이어마다의 랭킹 기록 저장 가능</a:t>
            </a:r>
            <a:endParaRPr lang="en-US" alt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52AC29-9C71-6DE7-0FA3-83FEF6C81583}"/>
              </a:ext>
            </a:extLst>
          </p:cNvPr>
          <p:cNvSpPr/>
          <p:nvPr/>
        </p:nvSpPr>
        <p:spPr>
          <a:xfrm>
            <a:off x="0" y="5614455"/>
            <a:ext cx="4221410" cy="1755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플레이어 관리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-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개별 플레이어 이름 설정으로 각 </a:t>
            </a:r>
            <a:r>
              <a:rPr lang="ko-KR" altLang="en-US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게임별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독립적인 랭킹 시스템 구현 및 점수 기록 관리</a:t>
            </a:r>
            <a:endParaRPr lang="en-US" alt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9F90EE-FB99-5DB7-E933-A2C64BAE2E2D}"/>
              </a:ext>
            </a:extLst>
          </p:cNvPr>
          <p:cNvSpPr/>
          <p:nvPr/>
        </p:nvSpPr>
        <p:spPr>
          <a:xfrm>
            <a:off x="23955" y="7517961"/>
            <a:ext cx="4221410" cy="1755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세가지 모드 지원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- Single Play, Multi Play, Sing Along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등 세가지 모드를 선택하여 </a:t>
            </a:r>
            <a:r>
              <a:rPr lang="ko-KR" altLang="en-US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즐기수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있는 게임의 폭을 넓힘</a:t>
            </a:r>
            <a:endParaRPr lang="en-US" alt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AEAAA9-01DE-900B-00C1-A7139BABF54B}"/>
              </a:ext>
            </a:extLst>
          </p:cNvPr>
          <p:cNvSpPr/>
          <p:nvPr/>
        </p:nvSpPr>
        <p:spPr>
          <a:xfrm>
            <a:off x="0" y="1704449"/>
            <a:ext cx="4221410" cy="1755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실시간 오디오 피드백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-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ALSA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마이크 입력을 자동상관함수로 피치 검출하여 </a:t>
            </a: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MIDI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음계를 게임 </a:t>
            </a: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Y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좌표로 매핑</a:t>
            </a: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음성으로 실시간 캐릭터 제어</a:t>
            </a:r>
            <a:endParaRPr lang="en-US" alt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3D02F7-1A02-DF9A-5072-36A30A0D3D57}"/>
              </a:ext>
            </a:extLst>
          </p:cNvPr>
          <p:cNvSpPr/>
          <p:nvPr/>
        </p:nvSpPr>
        <p:spPr>
          <a:xfrm>
            <a:off x="13270143" y="7517961"/>
            <a:ext cx="4221410" cy="133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Qt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활용한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UI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구현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- Single play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에서 각 플레이어마다의 랭킹 기록 저장 가능</a:t>
            </a:r>
            <a:endParaRPr lang="en-US" alt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6E6FD92-626B-D4EB-C2FE-72189EE2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18" y="9328343"/>
            <a:ext cx="3878574" cy="40281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EA00697-17CF-A3EA-9280-84BDE668B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9360" y="5564865"/>
            <a:ext cx="495300" cy="5334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DD83D64-B589-37AC-0EDF-DDB46B34B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1463" y="5745699"/>
            <a:ext cx="5143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17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A086-4E35-A234-9811-5AE450B5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36A61-4FDF-10F4-3808-5DC49B7A7940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APP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5" name="그림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CF0691-22FE-E7AF-C135-905CF8175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80" y="2465814"/>
            <a:ext cx="15347003" cy="666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86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283FB9-AD38-4A08-9E2A-7D2E167699C1}"/>
              </a:ext>
            </a:extLst>
          </p:cNvPr>
          <p:cNvSpPr/>
          <p:nvPr/>
        </p:nvSpPr>
        <p:spPr>
          <a:xfrm>
            <a:off x="79200" y="2823678"/>
            <a:ext cx="9813471" cy="4620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000" b="1">
                <a:solidFill>
                  <a:srgbClr val="FF6565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🕹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3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게임 모드 구성 및 피드백 시스템</a:t>
            </a:r>
            <a:endParaRPr lang="en-US" altLang="ko-KR" sz="3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싱글 모드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사용자의 음정에 따라 장애물을 피하며 점수 획득</a:t>
            </a:r>
            <a:endParaRPr lang="en-US" altLang="ko-KR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멀티플레이어 모드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여러 명이 동시에 플레이하며 경쟁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(UDP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 통신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Sing Along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모드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CSV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포맷 노래 데이터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</a:t>
            </a:r>
            <a:r>
              <a:rPr lang="ko-KR" altLang="en-US" sz="200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파싱하여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박자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가사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음정 기반 장애물 자동 생성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노래를 정확하게 부르면 캐릭터가 자연스럽게 전진하며 점수 누적</a:t>
            </a:r>
            <a:endParaRPr lang="en-US" altLang="ko-KR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사용자가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직접 자신의 음정 정확도를 체험하며 피드백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을 받을 수 있음</a:t>
            </a:r>
          </a:p>
        </p:txBody>
      </p:sp>
      <p:pic>
        <p:nvPicPr>
          <p:cNvPr id="5" name="그림 4" descr="텍스트, 스크린샷, 만화 영화이(가) 표시된 사진&#10;&#10;자동 생성된 설명">
            <a:extLst>
              <a:ext uri="{FF2B5EF4-FFF2-40B4-BE49-F238E27FC236}">
                <a16:creationId xmlns:a16="http://schemas.microsoft.com/office/drawing/2014/main" id="{FFB4B3F0-E0B2-00E3-1229-4712BD5F374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58301" y="5848939"/>
            <a:ext cx="6480000" cy="3600000"/>
          </a:xfrm>
          <a:prstGeom prst="rect">
            <a:avLst/>
          </a:prstGeom>
          <a:noFill/>
          <a:ln w="47625">
            <a:solidFill>
              <a:srgbClr val="FF6565"/>
            </a:solidFill>
          </a:ln>
          <a:effectLst>
            <a:softEdge rad="12700"/>
          </a:effectLst>
        </p:spPr>
      </p:pic>
      <p:pic>
        <p:nvPicPr>
          <p:cNvPr id="8" name="그림 7" descr="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75966E94-D82B-BECE-3A4C-F82996C299F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958301" y="1733802"/>
            <a:ext cx="6480000" cy="3600000"/>
          </a:xfrm>
          <a:prstGeom prst="rect">
            <a:avLst/>
          </a:prstGeom>
          <a:ln w="47625">
            <a:solidFill>
              <a:srgbClr val="FF6565"/>
            </a:solidFill>
          </a:ln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090705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A2E04-D7BE-DB60-0E31-87F4F0C0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303B43-D951-BB3F-0818-2257A4821EAB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APP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C7E792-F35E-29C1-9721-1CDCE78020F0}"/>
              </a:ext>
            </a:extLst>
          </p:cNvPr>
          <p:cNvSpPr/>
          <p:nvPr/>
        </p:nvSpPr>
        <p:spPr>
          <a:xfrm>
            <a:off x="1018628" y="1904345"/>
            <a:ext cx="14725680" cy="65482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000">
                <a:ea typeface="+mn-lt"/>
                <a:cs typeface="+mn-lt"/>
              </a:rPr>
              <a:t>🎵</a:t>
            </a:r>
            <a:r>
              <a:rPr lang="en-US" sz="3000">
                <a:latin typeface="Calibri"/>
                <a:ea typeface="Calibri"/>
                <a:cs typeface="Calibri"/>
              </a:rPr>
              <a:t> </a:t>
            </a:r>
            <a:r>
              <a:rPr lang="en-US" altLang="ko-KR" sz="3000" b="1">
                <a:latin typeface="LG스마트체2.0 Regular" panose="020B0600000101010101" pitchFamily="50" charset="-127"/>
                <a:ea typeface="LG스마트체2.0 Regular"/>
              </a:rPr>
              <a:t>2. Activity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한 게임 요소추가</a:t>
            </a:r>
            <a:endParaRPr lang="en-US" altLang="ko-KR" sz="3000" b="1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배경음악 및 효과음 시스템</a:t>
            </a:r>
            <a:endParaRPr lang="en-US" altLang="ko-KR" sz="2000" b="1">
              <a:latin typeface="LG스마트체2.0 Regular" panose="020B0600000101010101" pitchFamily="50" charset="-127"/>
              <a:ea typeface="LG스마트체2.0 Regular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ALSA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기반  리눅스 오디오 시스템 연동하여 음악 및 효과음 재생</a:t>
            </a:r>
            <a:endParaRPr lang="en-US" altLang="ko-KR">
              <a:latin typeface="LG스마트체2.0 Regular" panose="020B0600000101010101" pitchFamily="50" charset="-127"/>
              <a:ea typeface="LG스마트체2.0 Regular"/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배경음악의 경우 자동루프 재생 </a:t>
            </a:r>
            <a:r>
              <a:rPr lang="ko-KR" altLang="en-US" err="1">
                <a:latin typeface="LG스마트체2.0 Regular" panose="020B0600000101010101" pitchFamily="50" charset="-127"/>
                <a:ea typeface="LG스마트체2.0 Regular"/>
              </a:rPr>
              <a:t>매커니즘을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 추가하여 반복재생 적용</a:t>
            </a:r>
            <a:endParaRPr lang="en-US" altLang="ko-KR">
              <a:latin typeface="LG스마트체2.0 Regular" panose="020B0600000101010101" pitchFamily="50" charset="-127"/>
              <a:ea typeface="LG스마트체2.0 Regular"/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장애물에 충돌</a:t>
            </a: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아이템 획득 시 효과음 추가하여 생동감 있는 게임 환경 구축</a:t>
            </a:r>
            <a:endParaRPr lang="en-US" altLang="ko-KR">
              <a:latin typeface="LG스마트체2.0 Regular" panose="020B0600000101010101" pitchFamily="50" charset="-127"/>
              <a:ea typeface="LG스마트체2.0 Regular"/>
            </a:endParaRPr>
          </a:p>
          <a:p>
            <a:pPr lvl="1">
              <a:lnSpc>
                <a:spcPct val="150000"/>
              </a:lnSpc>
            </a:pPr>
            <a:endParaRPr lang="en-US" alt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장애물에 따른 난이도 제어와 아이템 구현으로 재미요소 추가</a:t>
            </a:r>
            <a:endParaRPr lang="en-US" altLang="ko-KR" sz="2000" b="1">
              <a:latin typeface="LG스마트체2.0 Regular" panose="020B0600000101010101" pitchFamily="50" charset="-127"/>
              <a:ea typeface="LG스마트체2.0 Regular"/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점수 구간에 따란 장애물 간격 </a:t>
            </a: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(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최소</a:t>
            </a: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,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최대 지정</a:t>
            </a: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)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및 장애물 생성 간격 조정으로 점진적 난이도 증가 구현</a:t>
            </a:r>
            <a:endParaRPr lang="en-US" altLang="ko-KR">
              <a:latin typeface="LG스마트체2.0 Regular" panose="020B0600000101010101" pitchFamily="50" charset="-127"/>
              <a:ea typeface="LG스마트체2.0 Regular"/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아이템을 획득 시 </a:t>
            </a: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+3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점 점수 추가를 통한 게임성 강화</a:t>
            </a:r>
            <a:endParaRPr lang="en-US" altLang="ko-KR">
              <a:latin typeface="LG스마트체2.0 Regular" panose="020B0600000101010101" pitchFamily="50" charset="-127"/>
              <a:ea typeface="LG스마트체2.0 Regular"/>
            </a:endParaRPr>
          </a:p>
          <a:p>
            <a:pPr lvl="1">
              <a:lnSpc>
                <a:spcPct val="150000"/>
              </a:lnSpc>
            </a:pPr>
            <a:endParaRPr lang="en-US" alt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플레이어 관리 및 랭킹시스템을 통해 경쟁 요소 도입</a:t>
            </a:r>
            <a:endParaRPr lang="en-US" altLang="ko-KR" sz="2000" b="1">
              <a:latin typeface="LG스마트체2.0 Regular" panose="020B0600000101010101" pitchFamily="50" charset="-127"/>
              <a:ea typeface="LG스마트체2.0 Regular"/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플레이어 등록 및 전환 기능을 통해 플레이어별 점수 기록 구현</a:t>
            </a:r>
            <a:endParaRPr lang="en-US" altLang="ko-KR">
              <a:latin typeface="LG스마트체2.0 Regular" panose="020B0600000101010101" pitchFamily="50" charset="-127"/>
              <a:ea typeface="LG스마트체2.0 Regular"/>
            </a:endParaRPr>
          </a:p>
          <a:p>
            <a:pPr lvl="1">
              <a:lnSpc>
                <a:spcPct val="150000"/>
              </a:lnSpc>
            </a:pPr>
            <a:r>
              <a:rPr lang="ko-KR" altLang="en-US" err="1">
                <a:latin typeface="LG스마트체2.0 Regular" panose="020B0600000101010101" pitchFamily="50" charset="-127"/>
                <a:ea typeface="LG스마트체2.0 Regular"/>
              </a:rPr>
              <a:t>시각화된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 랭킹 시스템 </a:t>
            </a: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(1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위</a:t>
            </a: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~7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위</a:t>
            </a: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)</a:t>
            </a:r>
            <a:r>
              <a:rPr lang="ko-KR" altLang="en-US" err="1">
                <a:latin typeface="LG스마트체2.0 Regular" panose="020B0600000101010101" pitchFamily="50" charset="-127"/>
                <a:ea typeface="LG스마트체2.0 Regular"/>
              </a:rPr>
              <a:t>으로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 다른 플레이어의 기록 확인</a:t>
            </a:r>
            <a:r>
              <a:rPr lang="en-US" altLang="ko-KR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/>
              </a:rPr>
              <a:t>경쟁 심리 유발</a:t>
            </a:r>
            <a:endParaRPr lang="en-US" altLang="ko-KR">
              <a:latin typeface="LG스마트체2.0 Regular" panose="020B0600000101010101" pitchFamily="50" charset="-127"/>
              <a:ea typeface="LG스마트체2.0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80195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APP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C75B52-0162-46C1-91AF-1AB7B289C365}"/>
              </a:ext>
            </a:extLst>
          </p:cNvPr>
          <p:cNvSpPr/>
          <p:nvPr/>
        </p:nvSpPr>
        <p:spPr>
          <a:xfrm>
            <a:off x="1112241" y="3243288"/>
            <a:ext cx="15331679" cy="338926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000" b="1">
                <a:solidFill>
                  <a:srgbClr val="00B0F0"/>
                </a:solidFill>
                <a:latin typeface="LG스마트체2.0 Regular" panose="020B0600000101010101" pitchFamily="50" charset="-127"/>
                <a:ea typeface="LG스마트체2.0 Regular"/>
              </a:rPr>
              <a:t>🌐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 3</a:t>
            </a:r>
            <a:r>
              <a:rPr lang="en-US" altLang="ko-KR" sz="3000" b="1">
                <a:latin typeface="LG스마트체2.0 Regular" panose="020B0600000101010101" pitchFamily="50" charset="-127"/>
                <a:ea typeface="LG스마트체2.0 Regular"/>
              </a:rPr>
              <a:t>. 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네트워크 멀티플레이어 시스템</a:t>
            </a:r>
            <a:endParaRPr lang="en-US" altLang="ko-KR" sz="3000" b="1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UDP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멀티캐스트 통신 구조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를 구현하여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모든 클라이언트에게 실시간으로 게임 상태를 전송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 err="1">
                <a:latin typeface="LG스마트체2.0 Regular" panose="020B0600000101010101" pitchFamily="50" charset="-127"/>
                <a:ea typeface="LG스마트체2.0 Regular"/>
              </a:rPr>
              <a:t>QJsonDocument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 + </a:t>
            </a:r>
            <a:r>
              <a:rPr lang="en-US" altLang="ko-KR" sz="2000" b="1" err="1">
                <a:latin typeface="LG스마트체2.0 Regular" panose="020B0600000101010101" pitchFamily="50" charset="-127"/>
                <a:ea typeface="LG스마트체2.0 Regular"/>
              </a:rPr>
              <a:t>QUDPSocket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을 활용해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JSON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형식의 데이터 직렬화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역직렬화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타임스탬프 기반의 지연 보정 로직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을 구현해 네트워크 환경에서 발생하는 딜레이 최소화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충돌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장애물 위치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점수 정보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등을 실시간으로 동기화하여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자연스러운 멀티플레이 경험 제공</a:t>
            </a:r>
          </a:p>
        </p:txBody>
      </p:sp>
    </p:spTree>
    <p:extLst>
      <p:ext uri="{BB962C8B-B14F-4D97-AF65-F5344CB8AC3E}">
        <p14:creationId xmlns:p14="http://schemas.microsoft.com/office/powerpoint/2010/main" val="2036410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B21CD-3EFC-9ABC-D45F-063F0475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E0DAC3-F071-A7B9-75C2-2719C0E65DF7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APP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11B61D7B-9810-B981-39F0-81AE4E263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09" y="1662116"/>
            <a:ext cx="11024680" cy="796877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F54C0E9-F355-F934-141A-B8A8F721AFAD}"/>
              </a:ext>
            </a:extLst>
          </p:cNvPr>
          <p:cNvSpPr/>
          <p:nvPr/>
        </p:nvSpPr>
        <p:spPr>
          <a:xfrm>
            <a:off x="10788268" y="3270510"/>
            <a:ext cx="6165429" cy="43032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altLang="ko-KR" sz="2000" b="1" err="1">
                <a:latin typeface="LG스마트체2.0 Regular" panose="020B0600000101010101" pitchFamily="50" charset="-127"/>
                <a:ea typeface="LG스마트체2.0 Regular"/>
              </a:rPr>
              <a:t>대기실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진입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시간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동안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무제한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동시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접속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2000" err="1">
                <a:latin typeface="LG스마트체2.0 Regular" panose="020B0600000101010101" pitchFamily="50" charset="-127"/>
                <a:ea typeface="LG스마트체2.0 Regular"/>
              </a:rPr>
              <a:t>지원</a:t>
            </a: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endParaRPr lang="en-US" altLang="ko-KR" sz="2000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 err="1">
                <a:latin typeface="LG스마트체2.0 Regular" panose="020B0600000101010101" pitchFamily="50" charset="-127"/>
                <a:ea typeface="LG스마트체2.0 Regular"/>
              </a:rPr>
              <a:t>시드값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 기반의 난수 맵 자동 생성 로직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을 구현해 </a:t>
            </a:r>
            <a:b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</a:b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네트워크 패킷 </a:t>
            </a:r>
            <a:r>
              <a:rPr lang="ko-KR" altLang="en-US" sz="2000" err="1">
                <a:latin typeface="LG스마트체2.0 Regular" panose="020B0600000101010101" pitchFamily="50" charset="-127"/>
                <a:ea typeface="LG스마트체2.0 Regular"/>
              </a:rPr>
              <a:t>전송량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최적화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​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o-KR" altLang="en-US" sz="2000" b="1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충돌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장애물 위치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/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/>
              </a:rPr>
              <a:t>점수 정보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 등을 실시간으로 </a:t>
            </a:r>
            <a:b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</a:b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동기화하여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/>
              </a:rPr>
              <a:t>자연스러운 멀티플레이 경험 제공</a:t>
            </a:r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4681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A15B3-84EC-8481-F8E8-1F6C60214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C5DB4-F191-E6C4-BE43-790601BF95F1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핵심 기술: APP</a:t>
            </a:r>
            <a:endParaRPr lang="ko-KR" altLang="en-US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8083C7-794F-6F99-302C-4F745F9D3D99}"/>
              </a:ext>
            </a:extLst>
          </p:cNvPr>
          <p:cNvSpPr/>
          <p:nvPr/>
        </p:nvSpPr>
        <p:spPr>
          <a:xfrm>
            <a:off x="1112241" y="2072751"/>
            <a:ext cx="15331679" cy="672203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🎢 4</a:t>
            </a:r>
            <a:r>
              <a:rPr lang="en-US" altLang="ko-KR" sz="3000" b="1">
                <a:latin typeface="LG스마트체2.0 Regular" panose="020B0600000101010101" pitchFamily="50" charset="-127"/>
                <a:ea typeface="LG스마트체2.0 Regular"/>
              </a:rPr>
              <a:t>. </a:t>
            </a:r>
            <a:r>
              <a:rPr lang="en-US" altLang="ko-KR" sz="3000" b="1" err="1">
                <a:latin typeface="LG스마트체2.0 Regular" panose="020B0600000101010101" pitchFamily="50" charset="-127"/>
                <a:ea typeface="LG스마트체2.0 Regular"/>
              </a:rPr>
              <a:t>성능</a:t>
            </a:r>
            <a:r>
              <a:rPr lang="en-US" altLang="ko-KR" sz="3000" b="1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000" b="1" err="1">
                <a:latin typeface="LG스마트체2.0 Regular" panose="020B0600000101010101" pitchFamily="50" charset="-127"/>
                <a:ea typeface="LG스마트체2.0 Regular"/>
              </a:rPr>
              <a:t>최적화</a:t>
            </a:r>
            <a:endParaRPr lang="en-US" altLang="ko-KR" sz="3000" b="1">
              <a:latin typeface="LG스마트체2.0 Regular" panose="020B0600000101010101" pitchFamily="50" charset="-127"/>
              <a:ea typeface="LG스마트체2.0 Regular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Calibri" panose="020F0502020204030204"/>
                <a:ea typeface="LG스마트체2.0 Regular"/>
                <a:cs typeface="Calibri" panose="020F0502020204030204"/>
              </a:rPr>
              <a:t>메모리 관리</a:t>
            </a:r>
            <a:br>
              <a:rPr lang="ko-KR" altLang="en-US" sz="2000">
                <a:latin typeface="Calibri" panose="020F0502020204030204"/>
                <a:ea typeface="LG스마트체2.0 Regular"/>
                <a:cs typeface="Calibri" panose="020F0502020204030204"/>
              </a:rPr>
            </a:b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 </a:t>
            </a:r>
            <a:r>
              <a:rPr lang="ko-KR" altLang="en-US" err="1">
                <a:latin typeface="Calibri" panose="020F0502020204030204"/>
                <a:ea typeface="LG스마트체2.0 Regular"/>
                <a:cs typeface="Calibri" panose="020F0502020204030204"/>
              </a:rPr>
              <a:t>Qt의</a:t>
            </a: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 부모-자식 관계를 활용하여 </a:t>
            </a:r>
            <a:r>
              <a:rPr lang="ko-KR" altLang="en-US" b="1">
                <a:latin typeface="Calibri" panose="020F0502020204030204"/>
                <a:ea typeface="LG스마트체2.0 Regular"/>
                <a:cs typeface="Calibri" panose="020F0502020204030204"/>
              </a:rPr>
              <a:t>객체의 생명주기를 관리</a:t>
            </a: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하고, 객체 소멸 시 </a:t>
            </a:r>
            <a:r>
              <a:rPr lang="ko-KR" altLang="en-US" b="1">
                <a:latin typeface="Calibri" panose="020F0502020204030204"/>
                <a:ea typeface="LG스마트체2.0 Regular"/>
                <a:cs typeface="Calibri" panose="020F0502020204030204"/>
              </a:rPr>
              <a:t>모든 리소스가 자동으로 해제</a:t>
            </a:r>
            <a:br>
              <a:rPr lang="ko-KR" altLang="en-US" b="1">
                <a:latin typeface="Calibri" panose="020F0502020204030204"/>
                <a:ea typeface="LG스마트체2.0 Regular"/>
                <a:cs typeface="Calibri" panose="020F0502020204030204"/>
              </a:rPr>
            </a:br>
            <a:br>
              <a:rPr lang="ko-KR" altLang="en-US" sz="2000">
                <a:latin typeface="Calibri" panose="020F0502020204030204"/>
                <a:ea typeface="LG스마트체2.0 Regular"/>
                <a:cs typeface="Calibri" panose="020F0502020204030204"/>
              </a:rPr>
            </a:br>
            <a:r>
              <a:rPr lang="ko-KR" altLang="en-US" sz="2000" b="1">
                <a:latin typeface="Calibri" panose="020F0502020204030204"/>
                <a:ea typeface="LG스마트체2.0 Regular"/>
                <a:cs typeface="Calibri" panose="020F0502020204030204"/>
              </a:rPr>
              <a:t>렌더링 최적화 </a:t>
            </a:r>
            <a:br>
              <a:rPr lang="ko-KR" altLang="en-US" sz="2000">
                <a:latin typeface="Calibri" panose="020F0502020204030204"/>
                <a:ea typeface="LG스마트체2.0 Regular"/>
                <a:cs typeface="Calibri" panose="020F0502020204030204"/>
              </a:rPr>
            </a:b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배경 및 </a:t>
            </a:r>
            <a:r>
              <a:rPr lang="ko-KR" altLang="en-US" err="1">
                <a:latin typeface="Calibri" panose="020F0502020204030204"/>
                <a:ea typeface="LG스마트체2.0 Regular"/>
                <a:cs typeface="Calibri" panose="020F0502020204030204"/>
              </a:rPr>
              <a:t>스프라이트</a:t>
            </a: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 이미지를 </a:t>
            </a:r>
            <a:r>
              <a:rPr lang="ko-KR" altLang="en-US" b="1" err="1">
                <a:latin typeface="Calibri" panose="020F0502020204030204"/>
                <a:ea typeface="LG스마트체2.0 Regular"/>
                <a:cs typeface="Calibri" panose="020F0502020204030204"/>
              </a:rPr>
              <a:t>캐싱하여</a:t>
            </a:r>
            <a:r>
              <a:rPr lang="ko-KR" altLang="en-US" b="1">
                <a:latin typeface="Calibri" panose="020F0502020204030204"/>
                <a:ea typeface="LG스마트체2.0 Regular"/>
                <a:cs typeface="Calibri" panose="020F0502020204030204"/>
              </a:rPr>
              <a:t> 재사용</a:t>
            </a: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함으로써 메모리 사용량을 줄이고 렌더링 성능을 향상 </a:t>
            </a:r>
            <a:b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</a:br>
            <a:r>
              <a:rPr lang="ko-KR" altLang="en-US" b="1">
                <a:latin typeface="Calibri" panose="020F0502020204030204"/>
                <a:ea typeface="LG스마트체2.0 Regular"/>
                <a:cs typeface="Calibri" panose="020F0502020204030204"/>
              </a:rPr>
              <a:t>화면 밖에 있는 객체는 렌더링하지 않도록</a:t>
            </a: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 하여 불필요한 그리기 작업을 제거</a:t>
            </a:r>
            <a:b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</a:br>
            <a:endParaRPr lang="ko-KR" altLang="en-US">
              <a:latin typeface="Calibri" panose="020F0502020204030204"/>
              <a:ea typeface="LG스마트체2.0 Regular"/>
              <a:cs typeface="Calibri" panose="020F0502020204030204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Calibri" panose="020F0502020204030204"/>
                <a:ea typeface="LG스마트체2.0 Regular"/>
                <a:cs typeface="Calibri" panose="020F0502020204030204"/>
              </a:rPr>
              <a:t>네트워크 최적화</a:t>
            </a:r>
            <a:r>
              <a:rPr lang="ko-KR" altLang="en-US" sz="2000">
                <a:latin typeface="Calibri" panose="020F0502020204030204"/>
                <a:ea typeface="LG스마트체2.0 Regular"/>
                <a:cs typeface="Calibri" panose="020F0502020204030204"/>
              </a:rPr>
              <a:t> </a:t>
            </a:r>
            <a:br>
              <a:rPr lang="ko-KR" altLang="en-US" sz="2000">
                <a:latin typeface="Calibri" panose="020F0502020204030204"/>
                <a:ea typeface="LG스마트체2.0 Regular"/>
                <a:cs typeface="Calibri" panose="020F0502020204030204"/>
              </a:rPr>
            </a:br>
            <a:r>
              <a:rPr lang="ko-KR" altLang="en-US" b="1">
                <a:latin typeface="Calibri" panose="020F0502020204030204"/>
                <a:ea typeface="LG스마트체2.0 Regular"/>
                <a:cs typeface="Calibri" panose="020F0502020204030204"/>
              </a:rPr>
              <a:t>고유 </a:t>
            </a:r>
            <a:r>
              <a:rPr lang="ko-KR" altLang="en-US" b="1" err="1">
                <a:latin typeface="Calibri" panose="020F0502020204030204"/>
                <a:ea typeface="LG스마트체2.0 Regular"/>
                <a:cs typeface="Calibri" panose="020F0502020204030204"/>
              </a:rPr>
              <a:t>시드값</a:t>
            </a:r>
            <a:r>
              <a:rPr lang="ko-KR" altLang="en-US" err="1">
                <a:latin typeface="Calibri" panose="020F0502020204030204"/>
                <a:ea typeface="LG스마트체2.0 Regular"/>
                <a:cs typeface="Calibri" panose="020F0502020204030204"/>
              </a:rPr>
              <a:t>을</a:t>
            </a: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 통한 </a:t>
            </a:r>
            <a:r>
              <a:rPr lang="ko-KR" altLang="en-US" err="1">
                <a:latin typeface="Calibri" panose="020F0502020204030204"/>
                <a:ea typeface="LG스마트체2.0 Regular"/>
                <a:cs typeface="Calibri" panose="020F0502020204030204"/>
              </a:rPr>
              <a:t>난수값</a:t>
            </a: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 맵 생성으로 맵 정보는 실시간 동기화 되면서 , 맵 정보는 전송 불필요하게 만들어 트래픽을 감소 </a:t>
            </a:r>
            <a:b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</a:br>
            <a:r>
              <a:rPr lang="ko-KR" altLang="en-US">
                <a:latin typeface="Calibri" panose="020F0502020204030204"/>
                <a:ea typeface="LG스마트체2.0 Regular"/>
                <a:cs typeface="Calibri" panose="020F0502020204030204"/>
              </a:rPr>
              <a:t>타임스탬프를 사용하여 오래된 데이터는 무시하도록 하여 네트워크 지연에 의한 문제를 최소화</a:t>
            </a:r>
          </a:p>
        </p:txBody>
      </p:sp>
    </p:spTree>
    <p:extLst>
      <p:ext uri="{BB962C8B-B14F-4D97-AF65-F5344CB8AC3E}">
        <p14:creationId xmlns:p14="http://schemas.microsoft.com/office/powerpoint/2010/main" val="1784611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20F196-3EEC-4342-9F39-A0907E2D78AE}"/>
              </a:ext>
            </a:extLst>
          </p:cNvPr>
          <p:cNvSpPr/>
          <p:nvPr/>
        </p:nvSpPr>
        <p:spPr>
          <a:xfrm>
            <a:off x="801392" y="1833531"/>
            <a:ext cx="16608067" cy="719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b="1">
                <a:solidFill>
                  <a:srgbClr val="92D05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✅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목표 달성 평가</a:t>
            </a:r>
            <a:endParaRPr lang="en-US" altLang="ko-KR" sz="3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가지 게임 모드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싱글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멀티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노래 연습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구현 완료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ALSA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 실시간 오디오 캡처와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Autocorrelation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피치 분석의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정확도와 실시간성 만족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UDP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멀티캐스트 기반 네트워크 통신을 통한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멀티플레이어 동기화 지연 최소화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성공</a:t>
            </a:r>
            <a:endParaRPr lang="en-US" altLang="ko-KR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Buildroot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 임베디드 시스템에서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커널 포팅과 루트 파일 시스템 안정적 구동 및 자동 실행 달성</a:t>
            </a:r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000" b="1">
                <a:solidFill>
                  <a:schemeClr val="accent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⚠️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한계 및 개선점</a:t>
            </a:r>
            <a:endParaRPr lang="en-US" altLang="ko-KR" sz="3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네트워크 환경 변화에 따른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지연과 패킷 손실 영향이 일부 발생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음정 검출 정확도 향상을 위해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노이즈 제거 및 신호 처리 고도화 필요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게임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UI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및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UX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일부 부분에서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사용자 피드백 반영한 개선점 존재</a:t>
            </a:r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000" b="1">
                <a:solidFill>
                  <a:srgbClr val="00B0F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🌟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기대 효과</a:t>
            </a:r>
            <a:endParaRPr lang="en-US" altLang="ko-KR" sz="3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음악 교육용 게임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으로서 사용자 음정 인식과 피드백 제공 가능</a:t>
            </a:r>
            <a:endParaRPr lang="en-US" altLang="ko-KR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멀티플레이어 기능으로 친구나 그룹 단위 학습 시너지 기대</a:t>
            </a:r>
            <a:endParaRPr lang="en-US" altLang="ko-KR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임베디드 환경에서의 안정적 동작으로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다양한 하드웨어 플랫폼에 적용 가능</a:t>
            </a:r>
            <a:endParaRPr lang="en-US" altLang="ko-KR" sz="2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AI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평가 시스템 등 고도화 연구의 기반 마련</a:t>
            </a:r>
          </a:p>
        </p:txBody>
      </p:sp>
    </p:spTree>
    <p:extLst>
      <p:ext uri="{BB962C8B-B14F-4D97-AF65-F5344CB8AC3E}">
        <p14:creationId xmlns:p14="http://schemas.microsoft.com/office/powerpoint/2010/main" val="3256740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EC3786-F5E0-4DF2-8FF4-867F0983762C}"/>
              </a:ext>
            </a:extLst>
          </p:cNvPr>
          <p:cNvSpPr/>
          <p:nvPr/>
        </p:nvSpPr>
        <p:spPr>
          <a:xfrm>
            <a:off x="984087" y="2262250"/>
            <a:ext cx="15206172" cy="5351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b="1">
                <a:solidFill>
                  <a:srgbClr val="7030A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🔮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향후 연구 과제</a:t>
            </a:r>
            <a:endParaRPr lang="en-US" altLang="ko-KR" sz="3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AI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 음정 정확도 평가 시스템 도입</a:t>
            </a:r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사용자 음정 자동 평가 및 피드백 고도화</a:t>
            </a:r>
            <a:endParaRPr lang="en-US" altLang="ko-KR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소셜 기능 강화</a:t>
            </a:r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친구 추가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채팅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리더보드 확장으로 사용자 참여도 향상</a:t>
            </a:r>
            <a:endParaRPr lang="en-US" altLang="ko-KR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다양한 곡목 자동 추가 및 관리 시스템 개발</a:t>
            </a:r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CSV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외 다양한 포맷 지원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곡 데이터베이스 구축</a:t>
            </a:r>
            <a:endParaRPr lang="en-US" altLang="ko-KR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모바일 플랫폼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(Android/iOS) </a:t>
            </a: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버전 포팅</a:t>
            </a:r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휴대기기에서의 사용성 확대 및 접근성 강화</a:t>
            </a:r>
            <a:endParaRPr lang="en-US" altLang="ko-KR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네트워크 안정성 및 지연 보정 알고리즘 개선</a:t>
            </a:r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다양한 네트워크 환경에서 원활한 멀티플레이어 경험 제공</a:t>
            </a:r>
          </a:p>
        </p:txBody>
      </p:sp>
    </p:spTree>
    <p:extLst>
      <p:ext uri="{BB962C8B-B14F-4D97-AF65-F5344CB8AC3E}">
        <p14:creationId xmlns:p14="http://schemas.microsoft.com/office/powerpoint/2010/main" val="3019012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F161B4-BA88-45E2-A026-F9197FC1E999}"/>
              </a:ext>
            </a:extLst>
          </p:cNvPr>
          <p:cNvSpPr/>
          <p:nvPr/>
        </p:nvSpPr>
        <p:spPr>
          <a:xfrm>
            <a:off x="747161" y="3166344"/>
            <a:ext cx="16061839" cy="354314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3000" b="1">
                <a:solidFill>
                  <a:schemeClr val="accent2"/>
                </a:solidFill>
                <a:latin typeface="LG스마트체2.0 Regular" panose="020B0600000101010101" pitchFamily="50" charset="-127"/>
                <a:ea typeface="LG스마트체2.0 Regular"/>
              </a:rPr>
              <a:t>✍️</a:t>
            </a:r>
            <a:r>
              <a:rPr lang="ko-KR" altLang="en-US" sz="3000" b="1">
                <a:latin typeface="LG스마트체2.0 Regular" panose="020B0600000101010101" pitchFamily="50" charset="-127"/>
                <a:ea typeface="LG스마트체2.0 Regular"/>
              </a:rPr>
              <a:t> 프로젝트 수행 후기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ALSA </a:t>
            </a:r>
            <a:r>
              <a:rPr lang="ko-KR" altLang="en-US" sz="2000">
                <a:latin typeface="LG스마트체2.0 Regular" panose="020B0600000101010101" pitchFamily="50" charset="-127"/>
                <a:ea typeface="LG Smart_H2.0 R"/>
              </a:rPr>
              <a:t>오디오 처리부터 커널 포팅</a:t>
            </a:r>
            <a:r>
              <a:rPr lang="en-US" altLang="ko-KR" sz="2000">
                <a:latin typeface="LG스마트체2.0 Regular" panose="020B0600000101010101" pitchFamily="50" charset="-127"/>
                <a:ea typeface="LG스마트체2.0 Regular"/>
              </a:rPr>
              <a:t>, GUI, </a:t>
            </a:r>
            <a:r>
              <a:rPr lang="ko-KR" altLang="en-US" sz="2000">
                <a:latin typeface="LG스마트체2.0 Regular" panose="020B0600000101010101" pitchFamily="50" charset="-127"/>
                <a:ea typeface="LG Smart_H2.0 R"/>
              </a:rPr>
              <a:t>네트워크까지 </a:t>
            </a:r>
            <a:r>
              <a:rPr lang="ko-KR" altLang="en-US" sz="2000" b="1">
                <a:latin typeface="LG스마트체2.0 Regular" panose="020B0600000101010101" pitchFamily="50" charset="-127"/>
                <a:ea typeface="LG Smart_H2.0 R"/>
              </a:rPr>
              <a:t>다양한 기술을 한 프로젝트에서 경험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 Smart_H2.0 R"/>
              </a:rPr>
              <a:t>실시간 음성 인식과 멀티플레이어 동기화 구현이 가장 </a:t>
            </a:r>
            <a:r>
              <a:rPr lang="ko-KR" altLang="en-US" sz="2000" b="1">
                <a:latin typeface="LG스마트체2.0 Regular" panose="020B0600000101010101" pitchFamily="50" charset="-127"/>
                <a:ea typeface="LG Smart_H2.0 R"/>
              </a:rPr>
              <a:t>어려웠지만</a:t>
            </a:r>
            <a:r>
              <a:rPr lang="en-US" altLang="ko-KR" sz="2000" b="1"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2000" b="1">
                <a:latin typeface="LG스마트체2.0 Regular" panose="020B0600000101010101" pitchFamily="50" charset="-127"/>
                <a:ea typeface="LG Smart_H2.0 R"/>
              </a:rPr>
              <a:t>문제 해결 과정에서 큰 성취감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err="1">
                <a:latin typeface="LG스마트체2.0 Regular"/>
                <a:ea typeface="LG스마트체2.0 Regular"/>
              </a:rPr>
              <a:t>Buildroot</a:t>
            </a:r>
            <a:r>
              <a:rPr lang="ko-KR" altLang="en-US" sz="2000">
                <a:latin typeface="LG스마트체2.0 Regular"/>
                <a:ea typeface="LG Smart_H2.0 R"/>
              </a:rPr>
              <a:t>와 임베디드 시스템 설정을 통해 </a:t>
            </a:r>
            <a:r>
              <a:rPr lang="ko-KR" altLang="en-US" sz="2000" b="1">
                <a:latin typeface="LG스마트체2.0 Regular"/>
                <a:ea typeface="LG Smart_H2.0 R"/>
              </a:rPr>
              <a:t>하드웨어와 소프트웨어 통합 이해도 상승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 Smart_H2.0 R"/>
              </a:rPr>
              <a:t>팀 내 협업과 테스트 반복을 통해 </a:t>
            </a:r>
            <a:r>
              <a:rPr lang="ko-KR" altLang="en-US" sz="2000" b="1">
                <a:latin typeface="LG스마트체2.0 Regular" panose="020B0600000101010101" pitchFamily="50" charset="-127"/>
                <a:ea typeface="LG Smart_H2.0 R"/>
              </a:rPr>
              <a:t>소통 능력 및 개발 프로세스 개선</a:t>
            </a:r>
            <a:r>
              <a:rPr lang="ko-KR" altLang="en-US" sz="2000">
                <a:latin typeface="LG스마트체2.0 Regular" panose="020B0600000101010101" pitchFamily="50" charset="-127"/>
                <a:ea typeface="LG Smart_H2.0 R"/>
              </a:rPr>
              <a:t> 경험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LG스마트체2.0 Regular" panose="020B0600000101010101" pitchFamily="50" charset="-127"/>
                <a:ea typeface="LG Smart_H2.0 R"/>
              </a:rPr>
              <a:t>앞으로도 복합 시스템 개발 역량을 강화하고 싶다는 동기 부여가 된 프로젝트</a:t>
            </a:r>
          </a:p>
        </p:txBody>
      </p:sp>
    </p:spTree>
    <p:extLst>
      <p:ext uri="{BB962C8B-B14F-4D97-AF65-F5344CB8AC3E}">
        <p14:creationId xmlns:p14="http://schemas.microsoft.com/office/powerpoint/2010/main" val="247728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사용자 지정</PresentationFormat>
  <Slides>20</Slides>
  <Notes>20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revision>7</cp:revision>
  <dcterms:created xsi:type="dcterms:W3CDTF">2022-12-09T16:47:26Z</dcterms:created>
  <dcterms:modified xsi:type="dcterms:W3CDTF">2025-07-09T23:52:30Z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2025-07-09T01:42:04Z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6852bc05-9eb2-4236-8312-d5cab14eebad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10, 3, 0, 2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LGE Internal Use Only</vt:lpwstr>
  </property>
</Properties>
</file>